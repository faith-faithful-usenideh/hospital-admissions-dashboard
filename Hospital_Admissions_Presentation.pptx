
<file path=[Content_Types].xml><?xml version="1.0" encoding="utf-8"?>
<Types xmlns="http://schemas.openxmlformats.org/package/2006/content-types">
  <Default Extension="0&amp;ixid=M3wxMjA3fDB8MHxwaG90by1wYWdlfHx8fGVufDB8fHx8fA" ContentType="image/jpeg"/>
  <Default Extension="0&amp;ixid=M3wxMjA3fDB8MHxzZWFyY2h8MjV8fGhlYWx0aGNhcmV8ZW58MHx8MHx8fDA"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8" r:id="rId3"/>
    <p:sldId id="259" r:id="rId4"/>
    <p:sldId id="260" r:id="rId5"/>
    <p:sldId id="268"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0B2545"/>
                </a:solidFill>
                <a:latin typeface="Calibri" panose="020F0502020204030204"/>
                <a:ea typeface="+mn-ea"/>
                <a:cs typeface="+mn-cs"/>
              </a:defRPr>
            </a:pPr>
            <a:r>
              <a:rPr lang="en-GB" sz="1200" b="0" i="0" u="none" strike="noStrike" dirty="0">
                <a:solidFill>
                  <a:srgbClr val="0B2545"/>
                </a:solidFill>
                <a:latin typeface="Calibri" panose="020F0502020204030204"/>
              </a:rPr>
              <a:t>Admissions by month</a:t>
            </a:r>
            <a:r>
              <a:rPr lang="en-GB" sz="1200" b="0" i="0" u="none" strike="noStrike" baseline="0" dirty="0">
                <a:solidFill>
                  <a:srgbClr val="0B2545"/>
                </a:solidFill>
                <a:latin typeface="Calibri" panose="020F0502020204030204"/>
              </a:rPr>
              <a:t> </a:t>
            </a:r>
            <a:endParaRPr lang="en-GB" sz="1200" b="0" i="0" u="none" strike="noStrike" dirty="0">
              <a:solidFill>
                <a:srgbClr val="0B2545"/>
              </a:solidFill>
              <a:latin typeface="Calibri" panose="020F0502020204030204"/>
            </a:endParaRPr>
          </a:p>
        </c:rich>
      </c:tx>
      <c:layout>
        <c:manualLayout>
          <c:xMode val="edge"/>
          <c:yMode val="edge"/>
          <c:x val="0.33682307190414801"/>
          <c:y val="9.9206349206349201E-3"/>
        </c:manualLayout>
      </c:layout>
      <c:overlay val="0"/>
    </c:title>
    <c:autoTitleDeleted val="0"/>
    <c:plotArea>
      <c:layout>
        <c:manualLayout>
          <c:layoutTarget val="inner"/>
          <c:xMode val="edge"/>
          <c:yMode val="edge"/>
          <c:x val="6.2450880080667903E-2"/>
          <c:y val="0.11731150793650801"/>
          <c:w val="0.91165458131292898"/>
          <c:h val="0.75842433758280203"/>
        </c:manualLayout>
      </c:layout>
      <c:lineChart>
        <c:grouping val="standard"/>
        <c:varyColors val="0"/>
        <c:ser>
          <c:idx val="0"/>
          <c:order val="0"/>
          <c:tx>
            <c:strRef>
              <c:f>Sheet1!$B$1</c:f>
              <c:strCache>
                <c:ptCount val="1"/>
                <c:pt idx="0">
                  <c:v>Admissions</c:v>
                </c:pt>
              </c:strCache>
            </c:strRef>
          </c:tx>
          <c:spPr>
            <a:ln w="38100" cap="flat" cmpd="sng" algn="ctr">
              <a:solidFill>
                <a:srgbClr val="13A89E"/>
              </a:solidFill>
              <a:prstDash val="solid"/>
              <a:round/>
            </a:ln>
            <a:effectLst/>
          </c:spPr>
          <c:marker>
            <c:symbol val="circle"/>
            <c:size val="8"/>
            <c:spPr>
              <a:solidFill>
                <a:srgbClr val="13A89E"/>
              </a:solidFill>
              <a:ln w="9525" cap="flat" cmpd="sng" algn="ctr">
                <a:solidFill>
                  <a:srgbClr val="13A89E"/>
                </a:solidFill>
                <a:prstDash val="solid"/>
                <a:round/>
              </a:ln>
              <a:effectLst/>
            </c:spPr>
          </c:marker>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00000"/>
                    </a:solidFill>
                    <a:latin typeface="Calibri" panose="020F0502020204030204"/>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General</c:formatCode>
                <c:ptCount val="9"/>
                <c:pt idx="0">
                  <c:v>138</c:v>
                </c:pt>
                <c:pt idx="1">
                  <c:v>104</c:v>
                </c:pt>
                <c:pt idx="2">
                  <c:v>114</c:v>
                </c:pt>
                <c:pt idx="3">
                  <c:v>107</c:v>
                </c:pt>
                <c:pt idx="4">
                  <c:v>124</c:v>
                </c:pt>
                <c:pt idx="5">
                  <c:v>111</c:v>
                </c:pt>
                <c:pt idx="6">
                  <c:v>137</c:v>
                </c:pt>
                <c:pt idx="7">
                  <c:v>118</c:v>
                </c:pt>
                <c:pt idx="8">
                  <c:v>31</c:v>
                </c:pt>
              </c:numCache>
            </c:numRef>
          </c:val>
          <c:smooth val="0"/>
          <c:extLst>
            <c:ext xmlns:c16="http://schemas.microsoft.com/office/drawing/2014/chart" uri="{C3380CC4-5D6E-409C-BE32-E72D297353CC}">
              <c16:uniqueId val="{00000000-2024-4AE0-99DF-CA7028FBCCF3}"/>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B6B7B"/>
                </a:solidFill>
                <a:latin typeface="Calibri" panose="020F0502020204030204"/>
                <a:ea typeface="+mn-ea"/>
                <a:cs typeface="+mn-c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cmpd="sng" algn="ctr">
              <a:solidFill>
                <a:srgbClr val="E3E8ED"/>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B7B"/>
                </a:solidFill>
                <a:latin typeface="Calibri" panose="020F050202020403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d7f977a2-a4a4-4743-837f-8caf24253c12}"/>
      </c:ext>
    </c:extLst>
  </c:chart>
  <c:spPr>
    <a:noFill/>
    <a:ln>
      <a:noFill/>
    </a:ln>
    <a:effectLst/>
  </c:spPr>
  <c:txPr>
    <a:bodyPr/>
    <a:lstStyle/>
    <a:p>
      <a:pPr>
        <a:defRPr lang="en-US"/>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0B2545"/>
                </a:solidFill>
                <a:latin typeface="Calibri" panose="020F0502020204030204"/>
                <a:ea typeface="+mn-ea"/>
                <a:cs typeface="+mn-cs"/>
              </a:defRPr>
            </a:pPr>
            <a:r>
              <a:rPr lang="en-GB" sz="1200" b="0" i="0" u="none" strike="noStrike">
                <a:solidFill>
                  <a:srgbClr val="0B2545"/>
                </a:solidFill>
                <a:latin typeface="Calibri" panose="020F0502020204030204"/>
              </a:rPr>
              <a:t>Average billing per admission by department ($)</a:t>
            </a:r>
          </a:p>
        </c:rich>
      </c:tx>
      <c:overlay val="0"/>
    </c:title>
    <c:autoTitleDeleted val="0"/>
    <c:plotArea>
      <c:layout>
        <c:manualLayout>
          <c:layoutTarget val="inner"/>
          <c:xMode val="edge"/>
          <c:yMode val="edge"/>
          <c:x val="0.16313750113132414"/>
          <c:y val="0.17488401943178156"/>
          <c:w val="0.78322265212538089"/>
          <c:h val="0.78856627296587922"/>
        </c:manualLayout>
      </c:layout>
      <c:barChart>
        <c:barDir val="bar"/>
        <c:grouping val="clustered"/>
        <c:varyColors val="0"/>
        <c:ser>
          <c:idx val="0"/>
          <c:order val="0"/>
          <c:tx>
            <c:strRef>
              <c:f>Sheet1!$B$1</c:f>
              <c:strCache>
                <c:ptCount val="1"/>
                <c:pt idx="0">
                  <c:v>Billing</c:v>
                </c:pt>
              </c:strCache>
            </c:strRef>
          </c:tx>
          <c:spPr>
            <a:solidFill>
              <a:srgbClr val="0B2545"/>
            </a:solidFill>
            <a:effectLst/>
          </c:spPr>
          <c:invertIfNegative val="0"/>
          <c:dLbls>
            <c:dLbl>
              <c:idx val="0"/>
              <c:layout>
                <c:manualLayout>
                  <c:x val="-1.6876885526559087E-16"/>
                  <c:y val="-7.3099415204678029E-3"/>
                </c:manualLayout>
              </c:layout>
              <c:tx>
                <c:rich>
                  <a:bodyPr/>
                  <a:lstStyle/>
                  <a:p>
                    <a:fld id="{A18095D1-FE07-44C3-A07E-057BA8D987F8}" type="CELLRANGE">
                      <a:rPr lang="en-US"/>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E7A2-4261-AED9-281F37AB0A56}"/>
                </c:ext>
              </c:extLst>
            </c:dLbl>
            <c:dLbl>
              <c:idx val="1"/>
              <c:tx>
                <c:rich>
                  <a:bodyPr/>
                  <a:lstStyle/>
                  <a:p>
                    <a:fld id="{32D7A107-D4E5-46F0-BE82-4DA5BE800BC3}" type="CELLRANGE">
                      <a:rPr lang="en-NG"/>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7A2-4261-AED9-281F37AB0A56}"/>
                </c:ext>
              </c:extLst>
            </c:dLbl>
            <c:dLbl>
              <c:idx val="2"/>
              <c:tx>
                <c:rich>
                  <a:bodyPr/>
                  <a:lstStyle/>
                  <a:p>
                    <a:fld id="{A974EA34-7F34-4DFD-BE36-F5F992362602}" type="CELLRANGE">
                      <a:rPr lang="en-NG"/>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E7A2-4261-AED9-281F37AB0A56}"/>
                </c:ext>
              </c:extLst>
            </c:dLbl>
            <c:dLbl>
              <c:idx val="3"/>
              <c:tx>
                <c:rich>
                  <a:bodyPr/>
                  <a:lstStyle/>
                  <a:p>
                    <a:fld id="{058E6775-836D-4099-B685-EED1B8B685C1}" type="CELLRANGE">
                      <a:rPr lang="en-NG"/>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E7A2-4261-AED9-281F37AB0A56}"/>
                </c:ext>
              </c:extLst>
            </c:dLbl>
            <c:dLbl>
              <c:idx val="4"/>
              <c:tx>
                <c:rich>
                  <a:bodyPr/>
                  <a:lstStyle/>
                  <a:p>
                    <a:fld id="{C2C236FD-3B64-40A1-A0F7-923633DCD03C}" type="CELLRANGE">
                      <a:rPr lang="en-NG"/>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E7A2-4261-AED9-281F37AB0A56}"/>
                </c:ext>
              </c:extLst>
            </c:dLbl>
            <c:dLbl>
              <c:idx val="5"/>
              <c:tx>
                <c:rich>
                  <a:bodyPr/>
                  <a:lstStyle/>
                  <a:p>
                    <a:fld id="{A68AD44C-83FD-4B4F-9066-E5D0DC58861D}" type="CELLRANGE">
                      <a:rPr lang="en-NG"/>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E7A2-4261-AED9-281F37AB0A56}"/>
                </c:ext>
              </c:extLst>
            </c:dLbl>
            <c:dLbl>
              <c:idx val="6"/>
              <c:tx>
                <c:rich>
                  <a:bodyPr/>
                  <a:lstStyle/>
                  <a:p>
                    <a:fld id="{33132C3B-165A-4146-BAE9-7CEE70197F9C}" type="CELLRANGE">
                      <a:rPr lang="en-NG"/>
                      <a:pPr/>
                      <a:t>[CELLRANGE]</a:t>
                    </a:fld>
                    <a:endParaRPr lang="en-NG"/>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E7A2-4261-AED9-281F37AB0A56}"/>
                </c:ext>
              </c:extLst>
            </c:dLbl>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00000"/>
                    </a:solidFill>
                    <a:latin typeface="Calibri" panose="020F0502020204030204"/>
                    <a:ea typeface="+mn-ea"/>
                    <a:cs typeface="+mn-cs"/>
                  </a:defRPr>
                </a:pPr>
                <a:endParaRPr lang="en-US"/>
              </a:p>
            </c:txPr>
            <c:dLblPos val="out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Sheet1!$A$2:$A$8</c:f>
              <c:strCache>
                <c:ptCount val="7"/>
                <c:pt idx="0">
                  <c:v>Neurology</c:v>
                </c:pt>
                <c:pt idx="1">
                  <c:v>Oncology</c:v>
                </c:pt>
                <c:pt idx="2">
                  <c:v>ICU</c:v>
                </c:pt>
                <c:pt idx="3">
                  <c:v>Pediatrics</c:v>
                </c:pt>
                <c:pt idx="4">
                  <c:v>Cardiology</c:v>
                </c:pt>
                <c:pt idx="5">
                  <c:v>Gen. Surgery</c:v>
                </c:pt>
                <c:pt idx="6">
                  <c:v>Emergency</c:v>
                </c:pt>
              </c:strCache>
            </c:strRef>
          </c:cat>
          <c:val>
            <c:numRef>
              <c:f>Sheet1!$B$2:$B$8</c:f>
              <c:numCache>
                <c:formatCode>"$"#,##0</c:formatCode>
                <c:ptCount val="7"/>
                <c:pt idx="0">
                  <c:v>13008</c:v>
                </c:pt>
                <c:pt idx="1">
                  <c:v>12600</c:v>
                </c:pt>
                <c:pt idx="2">
                  <c:v>12545</c:v>
                </c:pt>
                <c:pt idx="3">
                  <c:v>12468</c:v>
                </c:pt>
                <c:pt idx="4">
                  <c:v>11730</c:v>
                </c:pt>
                <c:pt idx="5">
                  <c:v>11691</c:v>
                </c:pt>
                <c:pt idx="6">
                  <c:v>11328</c:v>
                </c:pt>
              </c:numCache>
            </c:numRef>
          </c:val>
          <c:extLst>
            <c:ext xmlns:c15="http://schemas.microsoft.com/office/drawing/2012/chart" uri="{02D57815-91ED-43cb-92C2-25804820EDAC}">
              <c15:datalabelsRange>
                <c15:f>Sheet1!$B$2:$B$8</c15:f>
                <c15:dlblRangeCache>
                  <c:ptCount val="7"/>
                  <c:pt idx="0">
                    <c:v>$13,008</c:v>
                  </c:pt>
                  <c:pt idx="1">
                    <c:v>$12,600</c:v>
                  </c:pt>
                  <c:pt idx="2">
                    <c:v>$12,545</c:v>
                  </c:pt>
                  <c:pt idx="3">
                    <c:v>$12,468</c:v>
                  </c:pt>
                  <c:pt idx="4">
                    <c:v>$11,730</c:v>
                  </c:pt>
                  <c:pt idx="5">
                    <c:v>$11,691</c:v>
                  </c:pt>
                  <c:pt idx="6">
                    <c:v>$11,328</c:v>
                  </c:pt>
                </c15:dlblRangeCache>
              </c15:datalabelsRange>
            </c:ext>
            <c:ext xmlns:c16="http://schemas.microsoft.com/office/drawing/2014/chart" uri="{C3380CC4-5D6E-409C-BE32-E72D297353CC}">
              <c16:uniqueId val="{00000000-D06D-4A53-943A-665B20CBB481}"/>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5B6B7B"/>
                </a:solidFill>
                <a:latin typeface="Calibri" panose="020F0502020204030204"/>
                <a:ea typeface="+mn-ea"/>
                <a:cs typeface="+mn-cs"/>
              </a:defRPr>
            </a:pPr>
            <a:endParaRPr lang="en-US"/>
          </a:p>
        </c:txPr>
        <c:crossAx val="2094734552"/>
        <c:crosses val="autoZero"/>
        <c:auto val="1"/>
        <c:lblAlgn val="ctr"/>
        <c:lblOffset val="100"/>
        <c:noMultiLvlLbl val="1"/>
      </c:catAx>
      <c:valAx>
        <c:axId val="2094734552"/>
        <c:scaling>
          <c:orientation val="minMax"/>
          <c:min val="0"/>
        </c:scaling>
        <c:delete val="0"/>
        <c:axPos val="t"/>
        <c:majorGridlines>
          <c:spPr>
            <a:ln w="6350" cap="flat" cmpd="sng" algn="ctr">
              <a:solidFill>
                <a:srgbClr val="E3E8ED"/>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B7B"/>
                </a:solidFill>
                <a:latin typeface="Calibri" panose="020F0502020204030204"/>
                <a:ea typeface="+mn-ea"/>
                <a:cs typeface="+mn-cs"/>
              </a:defRPr>
            </a:pPr>
            <a:endParaRPr lang="en-US"/>
          </a:p>
        </c:txPr>
        <c:crossAx val="2094734554"/>
        <c:crosses val="autoZero"/>
        <c:crossBetween val="between"/>
      </c:valAx>
      <c:spPr>
        <a:noFill/>
        <a:ln>
          <a:noFill/>
        </a:ln>
        <a:effectLst/>
      </c:spPr>
    </c:plotArea>
    <c:plotVisOnly val="1"/>
    <c:dispBlanksAs val="span"/>
    <c:showDLblsOverMax val="1"/>
    <c:extLst>
      <c:ext uri="{0b15fc19-7d7d-44ad-8c2d-2c3a37ce22c3}">
        <chartProps xmlns="https://web.wps.cn/et/2018/main" chartId="{53cebe80-bae9-4afe-8e54-08dba0f46bf6}"/>
      </c:ext>
    </c:extLst>
  </c:chart>
  <c:spPr>
    <a:noFill/>
    <a:ln>
      <a:noFill/>
    </a:ln>
    <a:effectLst/>
  </c:spPr>
  <c:txPr>
    <a:bodyPr/>
    <a:lstStyle/>
    <a:p>
      <a:pPr>
        <a:defRPr lang="en-US"/>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hospital patient-flow story.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follow the project plan team-split method. Add member names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for cleaning and pivots, Power Query for import, Power BI and DAX for measures and visuals.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were not guess-fixed: no reliable evidence showed which of the two dates was wrong.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not causation. The age-outcome split is unusually deterministic; validate with representative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September data stops on 7 Sep, so the dip is a partial month, not a confirmed seasonal pattern.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Differences between departments are small in this dataset.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alone does not establish why one department costs more.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not causation. The age-outcome split is unusually deterministic; validate with representative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is tied to a finding in the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story: messy data became evidence for planning.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0&amp;ixid=M3wxMjA3fDB8MHxzZWFyY2h8MjV8fGhlYWx0aGNhcmV8ZW58MHx8MHx8fDA"/></Relationships>
</file>

<file path=ppt/slides/_rels/slide3.xml.rels><?xml version="1.0" encoding="UTF-8" standalone="yes"?>
<Relationships xmlns="http://schemas.openxmlformats.org/package/2006/relationships"><Relationship Id="rId3" Type="http://schemas.openxmlformats.org/officeDocument/2006/relationships/image" Target="../media/image5.0&amp;ixid=M3wxMjA3fDB8MHxwaG90by1wYWdlfHx8fGVufDB8fHx8fA"/><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02A97C8-32FB-1E04-C394-D26197CBB179}"/>
              </a:ext>
            </a:extLst>
          </p:cNvPr>
          <p:cNvSpPr/>
          <p:nvPr/>
        </p:nvSpPr>
        <p:spPr>
          <a:xfrm>
            <a:off x="4674683" y="939002"/>
            <a:ext cx="4142606" cy="3989614"/>
          </a:xfrm>
          <a:prstGeom prst="ellips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3"/>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solidFill>
                  <a:srgbClr val="8FA6BC"/>
                </a:solidFill>
                <a:latin typeface="Calibri" panose="020F0502020204030204" pitchFamily="34" charset="0"/>
                <a:ea typeface="Calibri" panose="020F0502020204030204" pitchFamily="34" charset="-122"/>
                <a:cs typeface="Calibri" panose="020F0502020204030204" pitchFamily="34" charset="-120"/>
              </a:rPr>
              <a:t>1</a:t>
            </a:r>
            <a:endParaRPr lang="en-US" sz="900" dirty="0"/>
          </a:p>
        </p:txBody>
      </p:sp>
      <p:sp>
        <p:nvSpPr>
          <p:cNvPr id="7" name="Shape 4"/>
          <p:cNvSpPr/>
          <p:nvPr/>
        </p:nvSpPr>
        <p:spPr>
          <a:xfrm>
            <a:off x="829994" y="1417320"/>
            <a:ext cx="1005840" cy="1005840"/>
          </a:xfrm>
          <a:prstGeom prst="ellipse">
            <a:avLst/>
          </a:prstGeom>
          <a:solidFill>
            <a:srgbClr val="13A89E"/>
          </a:solidFill>
          <a:ln w="12700">
            <a:solidFill>
              <a:srgbClr val="13A89E"/>
            </a:solidFill>
            <a:prstDash val="solid"/>
          </a:ln>
        </p:spPr>
        <p:txBody>
          <a:bodyPr/>
          <a:lstStyle/>
          <a:p>
            <a:endParaRPr lang="en-US"/>
          </a:p>
        </p:txBody>
      </p:sp>
      <p:pic>
        <p:nvPicPr>
          <p:cNvPr id="8" name="Image 0" descr="preencoded.png"/>
          <p:cNvPicPr>
            <a:picLocks noChangeAspect="1"/>
          </p:cNvPicPr>
          <p:nvPr/>
        </p:nvPicPr>
        <p:blipFill>
          <a:blip r:embed="rId4"/>
          <a:stretch>
            <a:fillRect/>
          </a:stretch>
        </p:blipFill>
        <p:spPr>
          <a:xfrm>
            <a:off x="1081454" y="1668780"/>
            <a:ext cx="502920" cy="502920"/>
          </a:xfrm>
          <a:prstGeom prst="rect">
            <a:avLst/>
          </a:prstGeom>
        </p:spPr>
      </p:pic>
      <p:sp>
        <p:nvSpPr>
          <p:cNvPr id="9" name="Text 5"/>
          <p:cNvSpPr txBox="1"/>
          <p:nvPr/>
        </p:nvSpPr>
        <p:spPr>
          <a:xfrm>
            <a:off x="2011680" y="1097280"/>
            <a:ext cx="5486400" cy="274320"/>
          </a:xfrm>
          <a:prstGeom prst="rect">
            <a:avLst/>
          </a:prstGeom>
          <a:noFill/>
        </p:spPr>
        <p:txBody>
          <a:bodyPr wrap="square" lIns="0" tIns="0" rIns="0" bIns="0" rtlCol="0" anchor="ctr"/>
          <a:lstStyle/>
          <a:p>
            <a:pPr marL="0" indent="0">
              <a:buNone/>
            </a:pPr>
            <a:r>
              <a:rPr lang="en-US" sz="1200" b="1" kern="0" spc="400" dirty="0">
                <a:solidFill>
                  <a:srgbClr val="7FE0D6"/>
                </a:solidFill>
                <a:latin typeface="Calibri" panose="020F0502020204030204" pitchFamily="34" charset="0"/>
                <a:ea typeface="Calibri" panose="020F0502020204030204" pitchFamily="34" charset="-122"/>
                <a:cs typeface="Calibri" panose="020F0502020204030204" pitchFamily="34" charset="-120"/>
              </a:rPr>
              <a:t>PATIENT FLOW ANALYSIS</a:t>
            </a:r>
            <a:endParaRPr lang="en-US" sz="1200" dirty="0"/>
          </a:p>
        </p:txBody>
      </p:sp>
      <p:sp>
        <p:nvSpPr>
          <p:cNvPr id="10" name="Text 6"/>
          <p:cNvSpPr txBox="1"/>
          <p:nvPr/>
        </p:nvSpPr>
        <p:spPr>
          <a:xfrm>
            <a:off x="2011680" y="1417320"/>
            <a:ext cx="5943600" cy="1371600"/>
          </a:xfrm>
          <a:prstGeom prst="rect">
            <a:avLst/>
          </a:prstGeom>
          <a:noFill/>
        </p:spPr>
        <p:txBody>
          <a:bodyPr wrap="square" lIns="0" tIns="0" rIns="0" bIns="0" rtlCol="0" anchor="t"/>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Hospital Patient Admissions &amp; Treatment Outcomes</a:t>
            </a:r>
            <a:endParaRPr lang="en-US" sz="3200" dirty="0"/>
          </a:p>
        </p:txBody>
      </p:sp>
      <p:sp>
        <p:nvSpPr>
          <p:cNvPr id="13" name="Shape 1"/>
          <p:cNvSpPr/>
          <p:nvPr/>
        </p:nvSpPr>
        <p:spPr>
          <a:xfrm>
            <a:off x="0" y="0"/>
            <a:ext cx="228600" cy="5143500"/>
          </a:xfrm>
          <a:prstGeom prst="rect">
            <a:avLst/>
          </a:prstGeom>
          <a:solidFill>
            <a:srgbClr val="13A89E"/>
          </a:solidFill>
          <a:ln w="12700">
            <a:solidFill>
              <a:srgbClr val="13A89E"/>
            </a:solidFill>
            <a:prstDash val="solid"/>
          </a:ln>
        </p:spPr>
        <p:txBody>
          <a:bodyPr/>
          <a:lstStyle/>
          <a:p>
            <a:endParaRPr lang="en-US"/>
          </a:p>
        </p:txBody>
      </p:sp>
      <p:sp>
        <p:nvSpPr>
          <p:cNvPr id="15" name="Text 3"/>
          <p:cNvSpPr txBox="1"/>
          <p:nvPr/>
        </p:nvSpPr>
        <p:spPr>
          <a:xfrm>
            <a:off x="2011680" y="2743200"/>
            <a:ext cx="5120640" cy="365760"/>
          </a:xfrm>
          <a:prstGeom prst="rect">
            <a:avLst/>
          </a:prstGeom>
          <a:noFill/>
        </p:spPr>
        <p:txBody>
          <a:bodyPr wrap="square" lIns="0" tIns="0" rIns="0" bIns="0" rtlCol="0" anchor="ctr"/>
          <a:lstStyle/>
          <a:p>
            <a:pPr marL="0" indent="0">
              <a:buNone/>
            </a:pPr>
            <a:r>
              <a:rPr lang="en-US" sz="1800" dirty="0">
                <a:solidFill>
                  <a:srgbClr val="7FE0D6"/>
                </a:solidFill>
                <a:latin typeface="Calibri" panose="020F0502020204030204" pitchFamily="34" charset="0"/>
                <a:ea typeface="Calibri" panose="020F0502020204030204" pitchFamily="34" charset="-122"/>
                <a:cs typeface="Calibri" panose="020F0502020204030204" pitchFamily="34" charset="-120"/>
              </a:rPr>
              <a:t>Patient-flow analytics to support resource planning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188974"/>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 PROJECT OVERVIEW</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Challenges, Objectives &amp; Desired Outcome</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2</a:t>
            </a:r>
          </a:p>
        </p:txBody>
      </p:sp>
      <p:pic>
        <p:nvPicPr>
          <p:cNvPr id="10" name="Picture 9" descr="a woman in a white lab coat writing on a notebook">
            <a:extLst>
              <a:ext uri="{FF2B5EF4-FFF2-40B4-BE49-F238E27FC236}">
                <a16:creationId xmlns:a16="http://schemas.microsoft.com/office/drawing/2014/main" id="{6090AE0B-073B-0697-05AC-EE47244076CC}"/>
              </a:ext>
            </a:extLst>
          </p:cNvPr>
          <p:cNvPicPr>
            <a:picLocks noChangeAspect="1"/>
          </p:cNvPicPr>
          <p:nvPr/>
        </p:nvPicPr>
        <p:blipFill>
          <a:blip r:embed="rId4">
            <a:alphaModFix amt="50000"/>
          </a:blip>
          <a:stretch>
            <a:fillRect/>
          </a:stretch>
        </p:blipFill>
        <p:spPr>
          <a:xfrm>
            <a:off x="0" y="1105966"/>
            <a:ext cx="9143999" cy="4037534"/>
          </a:xfrm>
          <a:prstGeom prst="rect">
            <a:avLst/>
          </a:prstGeom>
        </p:spPr>
      </p:pic>
      <p:sp>
        <p:nvSpPr>
          <p:cNvPr id="34" name="TextBox 33">
            <a:extLst>
              <a:ext uri="{FF2B5EF4-FFF2-40B4-BE49-F238E27FC236}">
                <a16:creationId xmlns:a16="http://schemas.microsoft.com/office/drawing/2014/main" id="{6EA0E692-AC75-CE39-7BC3-D18B6A3E0946}"/>
              </a:ext>
            </a:extLst>
          </p:cNvPr>
          <p:cNvSpPr txBox="1"/>
          <p:nvPr/>
        </p:nvSpPr>
        <p:spPr>
          <a:xfrm>
            <a:off x="790595" y="1469134"/>
            <a:ext cx="3251633" cy="2877711"/>
          </a:xfrm>
          <a:prstGeom prst="rect">
            <a:avLst/>
          </a:prstGeom>
          <a:noFill/>
        </p:spPr>
        <p:txBody>
          <a:bodyPr wrap="square" rtlCol="0">
            <a:spAutoFit/>
          </a:bodyPr>
          <a:lstStyle/>
          <a:p>
            <a:r>
              <a:rPr lang="en-US" b="1" u="sng" dirty="0"/>
              <a:t>Introduction</a:t>
            </a:r>
          </a:p>
          <a:p>
            <a:endParaRPr lang="en-US" sz="900" b="1" dirty="0">
              <a:effectLst/>
            </a:endParaRPr>
          </a:p>
          <a:p>
            <a:r>
              <a:rPr lang="en-US" sz="1400" dirty="0"/>
              <a:t>The goal of this project was to help the hospital administration understand </a:t>
            </a:r>
            <a:r>
              <a:rPr lang="en-US" sz="1400" b="1" dirty="0"/>
              <a:t>Patient Flow</a:t>
            </a:r>
            <a:r>
              <a:rPr lang="en-US" sz="1400" dirty="0"/>
              <a:t> by analyzing Admissions trend by Month, Average Length of Stay by Department and Outcome Distribution, Average Billing by Department, Outcome by Age Group and Readmission; so, the information can support resource planning and further investigation.</a:t>
            </a:r>
            <a:endParaRPr lang="en-US" sz="1400" b="0" dirty="0">
              <a:effectLst/>
            </a:endParaRPr>
          </a:p>
          <a:p>
            <a:br>
              <a:rPr lang="en-US" sz="1400" dirty="0"/>
            </a:br>
            <a:endParaRPr lang="en-US" sz="1400" dirty="0"/>
          </a:p>
        </p:txBody>
      </p:sp>
      <p:sp>
        <p:nvSpPr>
          <p:cNvPr id="36" name="TextBox 35">
            <a:extLst>
              <a:ext uri="{FF2B5EF4-FFF2-40B4-BE49-F238E27FC236}">
                <a16:creationId xmlns:a16="http://schemas.microsoft.com/office/drawing/2014/main" id="{85B4E749-9EFB-CF4F-D3B8-5F1B1FA4B7AF}"/>
              </a:ext>
            </a:extLst>
          </p:cNvPr>
          <p:cNvSpPr txBox="1"/>
          <p:nvPr/>
        </p:nvSpPr>
        <p:spPr>
          <a:xfrm>
            <a:off x="4700476" y="1570957"/>
            <a:ext cx="3251634" cy="2893100"/>
          </a:xfrm>
          <a:prstGeom prst="rect">
            <a:avLst/>
          </a:prstGeom>
          <a:noFill/>
        </p:spPr>
        <p:txBody>
          <a:bodyPr wrap="square" rtlCol="0">
            <a:spAutoFit/>
          </a:bodyPr>
          <a:lstStyle/>
          <a:p>
            <a:r>
              <a:rPr lang="en-US" b="1" u="sng" dirty="0"/>
              <a:t>Understanding Patient Flow</a:t>
            </a:r>
          </a:p>
          <a:p>
            <a:endParaRPr lang="en-US" sz="1000" b="1" dirty="0">
              <a:effectLst/>
            </a:endParaRPr>
          </a:p>
          <a:p>
            <a:r>
              <a:rPr lang="en-US" sz="1400" dirty="0"/>
              <a:t>Patient Flow refers to how patients move through the hospital system; from admission through their hospital stay and recorded outcome, with readmission providing another indicator of what happens after an earlier admission.</a:t>
            </a:r>
            <a:endParaRPr lang="en-US" sz="1400" b="0" dirty="0">
              <a:effectLst/>
            </a:endParaRPr>
          </a:p>
          <a:p>
            <a:r>
              <a:rPr lang="en-US" sz="1400" dirty="0"/>
              <a:t>Our project focuses on using hospital admission data to understand patient flow and treatment outcomes.</a:t>
            </a:r>
            <a:endParaRPr lang="en-US" sz="1400" b="0" dirty="0">
              <a:effectLst/>
            </a:endParaRPr>
          </a:p>
          <a:p>
            <a:br>
              <a:rPr lang="en-US" sz="1400" dirty="0"/>
            </a:b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7" name="Picture 36" descr="Health care costs. Stethoscope and calculator symbol for health care costs or medical insurance">
            <a:extLst>
              <a:ext uri="{FF2B5EF4-FFF2-40B4-BE49-F238E27FC236}">
                <a16:creationId xmlns:a16="http://schemas.microsoft.com/office/drawing/2014/main" id="{1120A9FE-FAE3-3AE1-6D95-EB2163B7B181}"/>
              </a:ext>
            </a:extLst>
          </p:cNvPr>
          <p:cNvPicPr>
            <a:picLocks noChangeAspect="1"/>
          </p:cNvPicPr>
          <p:nvPr/>
        </p:nvPicPr>
        <p:blipFill>
          <a:blip r:embed="rId3">
            <a:alphaModFix amt="50000"/>
          </a:blip>
          <a:stretch>
            <a:fillRect/>
          </a:stretch>
        </p:blipFill>
        <p:spPr>
          <a:xfrm>
            <a:off x="3088385" y="1106425"/>
            <a:ext cx="6055615" cy="4037076"/>
          </a:xfrm>
          <a:prstGeom prst="rect">
            <a:avLst/>
          </a:prstGeom>
        </p:spPr>
      </p:pic>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182200"/>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THE TOOLKIT</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From raw sheet to live dashboard</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4"/>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3</a:t>
            </a:r>
          </a:p>
        </p:txBody>
      </p:sp>
      <p:grpSp>
        <p:nvGrpSpPr>
          <p:cNvPr id="35" name="Group 34">
            <a:extLst>
              <a:ext uri="{FF2B5EF4-FFF2-40B4-BE49-F238E27FC236}">
                <a16:creationId xmlns:a16="http://schemas.microsoft.com/office/drawing/2014/main" id="{A5A564DE-0E11-2927-AE70-534C149F25F9}"/>
              </a:ext>
            </a:extLst>
          </p:cNvPr>
          <p:cNvGrpSpPr/>
          <p:nvPr/>
        </p:nvGrpSpPr>
        <p:grpSpPr>
          <a:xfrm>
            <a:off x="457200" y="1371600"/>
            <a:ext cx="1554480" cy="1463040"/>
            <a:chOff x="457200" y="1371600"/>
            <a:chExt cx="1554480" cy="1463040"/>
          </a:xfrm>
        </p:grpSpPr>
        <p:sp>
          <p:nvSpPr>
            <p:cNvPr id="11" name="Shape 7"/>
            <p:cNvSpPr/>
            <p:nvPr/>
          </p:nvSpPr>
          <p:spPr>
            <a:xfrm>
              <a:off x="457200" y="1371600"/>
              <a:ext cx="1554480" cy="1463040"/>
            </a:xfrm>
            <a:prstGeom prst="rect">
              <a:avLst/>
            </a:prstGeom>
            <a:solidFill>
              <a:srgbClr val="13A89E"/>
            </a:solidFill>
            <a:ln w="12700">
              <a:solidFill>
                <a:srgbClr val="13A89E"/>
              </a:solidFill>
              <a:prstDash val="solid"/>
            </a:ln>
          </p:spPr>
          <p:txBody>
            <a:bodyPr/>
            <a:lstStyle/>
            <a:p>
              <a:endParaRPr lang="en-US"/>
            </a:p>
          </p:txBody>
        </p:sp>
        <p:sp>
          <p:nvSpPr>
            <p:cNvPr id="12" name="Shape 8"/>
            <p:cNvSpPr/>
            <p:nvPr/>
          </p:nvSpPr>
          <p:spPr>
            <a:xfrm>
              <a:off x="960120" y="1463040"/>
              <a:ext cx="548640" cy="548640"/>
            </a:xfrm>
            <a:prstGeom prst="ellipse">
              <a:avLst/>
            </a:prstGeom>
            <a:solidFill>
              <a:srgbClr val="0B2545"/>
            </a:solidFill>
            <a:ln w="12700">
              <a:solidFill>
                <a:srgbClr val="0B2545"/>
              </a:solidFill>
              <a:prstDash val="solid"/>
            </a:ln>
          </p:spPr>
          <p:txBody>
            <a:bodyPr/>
            <a:lstStyle/>
            <a:p>
              <a:endParaRPr lang="en-US"/>
            </a:p>
          </p:txBody>
        </p:sp>
        <p:pic>
          <p:nvPicPr>
            <p:cNvPr id="13" name="Image 1" descr="preencoded.png"/>
            <p:cNvPicPr>
              <a:picLocks noChangeAspect="1"/>
            </p:cNvPicPr>
            <p:nvPr/>
          </p:nvPicPr>
          <p:blipFill>
            <a:blip r:embed="rId5"/>
            <a:stretch>
              <a:fillRect/>
            </a:stretch>
          </p:blipFill>
          <p:spPr>
            <a:xfrm>
              <a:off x="1097280" y="1600200"/>
              <a:ext cx="274320" cy="274320"/>
            </a:xfrm>
            <a:prstGeom prst="rect">
              <a:avLst/>
            </a:prstGeom>
          </p:spPr>
        </p:pic>
        <p:sp>
          <p:nvSpPr>
            <p:cNvPr id="14" name="Text 9"/>
            <p:cNvSpPr txBox="1"/>
            <p:nvPr/>
          </p:nvSpPr>
          <p:spPr>
            <a:xfrm>
              <a:off x="548640" y="2084832"/>
              <a:ext cx="1371600" cy="731520"/>
            </a:xfrm>
            <a:prstGeom prst="rect">
              <a:avLst/>
            </a:prstGeom>
            <a:noFill/>
          </p:spPr>
          <p:txBody>
            <a:bodyPr wrap="square" lIns="0" tIns="0" rIns="0" bIns="0" rtlCol="0" anchor="t"/>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Excel</a:t>
              </a:r>
              <a:endParaRPr lang="en-US" sz="1300" dirty="0"/>
            </a:p>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Cleaning, formulas, pivot tables, flag columns</a:t>
              </a:r>
              <a:endParaRPr lang="en-US" sz="1300" dirty="0"/>
            </a:p>
          </p:txBody>
        </p:sp>
      </p:grpSp>
      <p:grpSp>
        <p:nvGrpSpPr>
          <p:cNvPr id="10" name="Group 9">
            <a:extLst>
              <a:ext uri="{FF2B5EF4-FFF2-40B4-BE49-F238E27FC236}">
                <a16:creationId xmlns:a16="http://schemas.microsoft.com/office/drawing/2014/main" id="{DE6C17B4-8F04-3591-8FF6-E7120414C4A6}"/>
              </a:ext>
            </a:extLst>
          </p:cNvPr>
          <p:cNvGrpSpPr/>
          <p:nvPr/>
        </p:nvGrpSpPr>
        <p:grpSpPr>
          <a:xfrm>
            <a:off x="2468880" y="1408176"/>
            <a:ext cx="1554480" cy="1463040"/>
            <a:chOff x="5532120" y="1371600"/>
            <a:chExt cx="1554480" cy="1463040"/>
          </a:xfrm>
        </p:grpSpPr>
        <p:sp>
          <p:nvSpPr>
            <p:cNvPr id="23" name="Shape 16"/>
            <p:cNvSpPr/>
            <p:nvPr/>
          </p:nvSpPr>
          <p:spPr>
            <a:xfrm>
              <a:off x="5532120" y="1371600"/>
              <a:ext cx="1554480" cy="1463040"/>
            </a:xfrm>
            <a:prstGeom prst="rect">
              <a:avLst/>
            </a:prstGeom>
            <a:solidFill>
              <a:srgbClr val="0B2545"/>
            </a:solidFill>
            <a:ln w="12700">
              <a:solidFill>
                <a:srgbClr val="0B2545"/>
              </a:solidFill>
              <a:prstDash val="solid"/>
            </a:ln>
          </p:spPr>
          <p:txBody>
            <a:bodyPr/>
            <a:lstStyle/>
            <a:p>
              <a:endParaRPr lang="en-US"/>
            </a:p>
          </p:txBody>
        </p:sp>
        <p:sp>
          <p:nvSpPr>
            <p:cNvPr id="24" name="Shape 17"/>
            <p:cNvSpPr/>
            <p:nvPr/>
          </p:nvSpPr>
          <p:spPr>
            <a:xfrm>
              <a:off x="6035040" y="1463040"/>
              <a:ext cx="548640" cy="548640"/>
            </a:xfrm>
            <a:prstGeom prst="ellipse">
              <a:avLst/>
            </a:prstGeom>
            <a:solidFill>
              <a:srgbClr val="13A89E"/>
            </a:solidFill>
            <a:ln w="12700">
              <a:solidFill>
                <a:srgbClr val="13A89E"/>
              </a:solidFill>
              <a:prstDash val="solid"/>
            </a:ln>
          </p:spPr>
          <p:txBody>
            <a:bodyPr/>
            <a:lstStyle/>
            <a:p>
              <a:endParaRPr lang="en-US"/>
            </a:p>
          </p:txBody>
        </p:sp>
        <p:pic>
          <p:nvPicPr>
            <p:cNvPr id="25" name="Image 4" descr="preencoded.png"/>
            <p:cNvPicPr>
              <a:picLocks noChangeAspect="1"/>
            </p:cNvPicPr>
            <p:nvPr/>
          </p:nvPicPr>
          <p:blipFill>
            <a:blip r:embed="rId4"/>
            <a:stretch>
              <a:fillRect/>
            </a:stretch>
          </p:blipFill>
          <p:spPr>
            <a:xfrm>
              <a:off x="6172200" y="1600200"/>
              <a:ext cx="274320" cy="274320"/>
            </a:xfrm>
            <a:prstGeom prst="rect">
              <a:avLst/>
            </a:prstGeom>
          </p:spPr>
        </p:pic>
        <p:sp>
          <p:nvSpPr>
            <p:cNvPr id="26" name="Text 18"/>
            <p:cNvSpPr txBox="1"/>
            <p:nvPr/>
          </p:nvSpPr>
          <p:spPr>
            <a:xfrm>
              <a:off x="5623560" y="2084832"/>
              <a:ext cx="1371600" cy="731520"/>
            </a:xfrm>
            <a:prstGeom prst="rect">
              <a:avLst/>
            </a:prstGeom>
            <a:noFill/>
          </p:spPr>
          <p:txBody>
            <a:bodyPr wrap="square" lIns="0" tIns="0" rIns="0" bIns="0" rtlCol="0" anchor="t"/>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Power BI</a:t>
              </a:r>
              <a:endParaRPr lang="en-US" sz="1300" dirty="0"/>
            </a:p>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KPI cards, charts, slicers, calendar table</a:t>
              </a:r>
              <a:endParaRPr lang="en-US" sz="1300" dirty="0"/>
            </a:p>
          </p:txBody>
        </p:sp>
      </p:grpSp>
      <p:sp>
        <p:nvSpPr>
          <p:cNvPr id="31" name="Shape 22"/>
          <p:cNvSpPr/>
          <p:nvPr/>
        </p:nvSpPr>
        <p:spPr>
          <a:xfrm>
            <a:off x="457200" y="3017520"/>
            <a:ext cx="8321040" cy="1554480"/>
          </a:xfrm>
          <a:prstGeom prst="rect">
            <a:avLst/>
          </a:prstGeom>
          <a:solidFill>
            <a:srgbClr val="0B2545"/>
          </a:solidFill>
          <a:ln w="12700">
            <a:solidFill>
              <a:srgbClr val="0B2545"/>
            </a:solidFill>
            <a:prstDash val="solid"/>
          </a:ln>
        </p:spPr>
        <p:txBody>
          <a:bodyPr/>
          <a:lstStyle/>
          <a:p>
            <a:endParaRPr lang="en-US"/>
          </a:p>
        </p:txBody>
      </p:sp>
      <p:sp>
        <p:nvSpPr>
          <p:cNvPr id="32" name="Text 23"/>
          <p:cNvSpPr txBox="1"/>
          <p:nvPr/>
        </p:nvSpPr>
        <p:spPr>
          <a:xfrm>
            <a:off x="640080" y="3108960"/>
            <a:ext cx="36576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KEY DAX MEASURES</a:t>
            </a:r>
            <a:endParaRPr lang="en-US" sz="1000" dirty="0"/>
          </a:p>
        </p:txBody>
      </p:sp>
      <p:sp>
        <p:nvSpPr>
          <p:cNvPr id="33" name="Text 24"/>
          <p:cNvSpPr txBox="1"/>
          <p:nvPr/>
        </p:nvSpPr>
        <p:spPr>
          <a:xfrm>
            <a:off x="640080" y="3416339"/>
            <a:ext cx="7863840" cy="1012874"/>
          </a:xfrm>
          <a:prstGeom prst="rect">
            <a:avLst/>
          </a:prstGeom>
          <a:noFill/>
        </p:spPr>
        <p:txBody>
          <a:bodyPr wrap="square" lIns="0" tIns="0" rIns="0" bIns="0" rtlCol="0" anchor="t"/>
          <a:lstStyle/>
          <a:p>
            <a:pPr marL="0" indent="0">
              <a:spcAft>
                <a:spcPts val="300"/>
              </a:spcAft>
              <a:buNone/>
            </a:pPr>
            <a:r>
              <a:rPr lang="en-US" sz="1000" dirty="0">
                <a:solidFill>
                  <a:srgbClr val="FFFFFF"/>
                </a:solidFill>
                <a:latin typeface="Consolas" panose="020B0609020204030204" pitchFamily="34" charset="0"/>
                <a:ea typeface="Consolas" panose="020B0609020204030204" pitchFamily="34" charset="-122"/>
                <a:cs typeface="Consolas" panose="020B0609020204030204" pitchFamily="34" charset="-120"/>
              </a:rPr>
              <a:t>Total_Admissions = COUNTROWS(PatientData)</a:t>
            </a:r>
            <a:endParaRPr lang="en-US" sz="1000" dirty="0"/>
          </a:p>
          <a:p>
            <a:pPr marL="0" indent="0">
              <a:spcAft>
                <a:spcPts val="300"/>
              </a:spcAft>
              <a:buNone/>
            </a:pPr>
            <a:r>
              <a:rPr lang="en-US" sz="1000" dirty="0">
                <a:solidFill>
                  <a:srgbClr val="FFFFFF"/>
                </a:solidFill>
                <a:latin typeface="Consolas" panose="020B0609020204030204" pitchFamily="34" charset="0"/>
                <a:ea typeface="Consolas" panose="020B0609020204030204" pitchFamily="34" charset="-122"/>
                <a:cs typeface="Consolas" panose="020B0609020204030204" pitchFamily="34" charset="-120"/>
              </a:rPr>
              <a:t>Average_LOS = AVERAGE(PatientData[Length of Stay])</a:t>
            </a:r>
            <a:endParaRPr lang="en-US" sz="1000" dirty="0"/>
          </a:p>
          <a:p>
            <a:pPr marL="0" indent="0">
              <a:spcAft>
                <a:spcPts val="300"/>
              </a:spcAft>
              <a:buNone/>
            </a:pPr>
            <a:r>
              <a:rPr lang="en-US" sz="1000" dirty="0">
                <a:solidFill>
                  <a:srgbClr val="FFFFFF"/>
                </a:solidFill>
                <a:latin typeface="Consolas" panose="020B0609020204030204" pitchFamily="34" charset="0"/>
                <a:ea typeface="Consolas" panose="020B0609020204030204" pitchFamily="34" charset="-122"/>
                <a:cs typeface="Consolas" panose="020B0609020204030204" pitchFamily="34" charset="-120"/>
              </a:rPr>
              <a:t>Recovery_Rate = DIVIDE(CALCULATE(COUNTROWS(...), Outcome="Recovered"), COUNTROWS(...))</a:t>
            </a:r>
            <a:endParaRPr lang="en-US" sz="1000" dirty="0"/>
          </a:p>
          <a:p>
            <a:pPr marL="0" indent="0">
              <a:spcAft>
                <a:spcPts val="300"/>
              </a:spcAft>
              <a:buNone/>
            </a:pPr>
            <a:r>
              <a:rPr lang="en-US" sz="1000" dirty="0">
                <a:solidFill>
                  <a:srgbClr val="FFFFFF"/>
                </a:solidFill>
                <a:latin typeface="Consolas" panose="020B0609020204030204" pitchFamily="34" charset="0"/>
                <a:ea typeface="Consolas" panose="020B0609020204030204" pitchFamily="34" charset="-122"/>
                <a:cs typeface="Consolas" panose="020B0609020204030204" pitchFamily="34" charset="-120"/>
              </a:rPr>
              <a:t>Readmission_Rate = DIVIDE(CALCULATE(COUNTROWS(...), Readmission="Yes"), COUNTROWS(...))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182200"/>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THE DATA</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raw data was messy, so we cleaned it first</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4</a:t>
            </a:r>
          </a:p>
        </p:txBody>
      </p:sp>
      <p:sp>
        <p:nvSpPr>
          <p:cNvPr id="11" name="Text 7"/>
          <p:cNvSpPr txBox="1"/>
          <p:nvPr/>
        </p:nvSpPr>
        <p:spPr>
          <a:xfrm>
            <a:off x="2507673" y="1261872"/>
            <a:ext cx="2230582" cy="182880"/>
          </a:xfrm>
          <a:prstGeom prst="rect">
            <a:avLst/>
          </a:prstGeom>
          <a:noFill/>
        </p:spPr>
        <p:txBody>
          <a:bodyPr wrap="square" lIns="0" tIns="0" rIns="0" bIns="0" rtlCol="0" anchor="ctr"/>
          <a:lstStyle/>
          <a:p>
            <a:pPr marL="0" indent="0">
              <a:buNone/>
            </a:pPr>
            <a:r>
              <a:rPr lang="en-US" sz="900" b="1" kern="0" spc="200" dirty="0">
                <a:solidFill>
                  <a:srgbClr val="E4572E"/>
                </a:solidFill>
                <a:latin typeface="Calibri" panose="020F0502020204030204" pitchFamily="34" charset="0"/>
                <a:ea typeface="Calibri" panose="020F0502020204030204" pitchFamily="34" charset="-122"/>
                <a:cs typeface="Calibri" panose="020F0502020204030204" pitchFamily="34" charset="-120"/>
              </a:rPr>
              <a:t>ISSUE FOUND</a:t>
            </a:r>
            <a:endParaRPr lang="en-US" sz="900" dirty="0"/>
          </a:p>
        </p:txBody>
      </p:sp>
      <p:sp>
        <p:nvSpPr>
          <p:cNvPr id="12" name="Text 8"/>
          <p:cNvSpPr txBox="1"/>
          <p:nvPr/>
        </p:nvSpPr>
        <p:spPr>
          <a:xfrm>
            <a:off x="5577840" y="1261872"/>
            <a:ext cx="2743200" cy="182880"/>
          </a:xfrm>
          <a:prstGeom prst="rect">
            <a:avLst/>
          </a:prstGeom>
          <a:noFill/>
        </p:spPr>
        <p:txBody>
          <a:bodyPr wrap="square" lIns="0" tIns="0" rIns="0" bIns="0" rtlCol="0" anchor="ctr"/>
          <a:lstStyle/>
          <a:p>
            <a:pPr marL="0" indent="0">
              <a:buNone/>
            </a:pPr>
            <a:r>
              <a:rPr lang="en-US" sz="900" b="1" kern="0" spc="200" dirty="0">
                <a:solidFill>
                  <a:srgbClr val="13A89E"/>
                </a:solidFill>
                <a:latin typeface="Calibri" panose="020F0502020204030204" pitchFamily="34" charset="0"/>
                <a:ea typeface="Calibri" panose="020F0502020204030204" pitchFamily="34" charset="-122"/>
                <a:cs typeface="Calibri" panose="020F0502020204030204" pitchFamily="34" charset="-120"/>
              </a:rPr>
              <a:t>HOW WE TREATED IT</a:t>
            </a:r>
            <a:endParaRPr lang="en-US" sz="900" dirty="0"/>
          </a:p>
        </p:txBody>
      </p:sp>
      <p:sp>
        <p:nvSpPr>
          <p:cNvPr id="13" name="Shape 9"/>
          <p:cNvSpPr/>
          <p:nvPr/>
        </p:nvSpPr>
        <p:spPr>
          <a:xfrm>
            <a:off x="457200" y="1481328"/>
            <a:ext cx="8229600" cy="566928"/>
          </a:xfrm>
          <a:prstGeom prst="rect">
            <a:avLst/>
          </a:prstGeom>
          <a:solidFill>
            <a:srgbClr val="F2F6F9"/>
          </a:solidFill>
          <a:ln w="12700">
            <a:solidFill>
              <a:srgbClr val="F2F6F9"/>
            </a:solidFill>
            <a:prstDash val="solid"/>
          </a:ln>
        </p:spPr>
        <p:txBody>
          <a:bodyPr/>
          <a:lstStyle/>
          <a:p>
            <a:endParaRPr lang="en-US"/>
          </a:p>
        </p:txBody>
      </p:sp>
      <p:sp>
        <p:nvSpPr>
          <p:cNvPr id="14" name="Shape 10"/>
          <p:cNvSpPr/>
          <p:nvPr/>
        </p:nvSpPr>
        <p:spPr>
          <a:xfrm>
            <a:off x="548640" y="1545336"/>
            <a:ext cx="438912" cy="438912"/>
          </a:xfrm>
          <a:prstGeom prst="ellipse">
            <a:avLst/>
          </a:prstGeom>
          <a:solidFill>
            <a:srgbClr val="13A89E"/>
          </a:solidFill>
          <a:ln w="12700">
            <a:solidFill>
              <a:srgbClr val="13A89E"/>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658368" y="1655064"/>
            <a:ext cx="219456" cy="219456"/>
          </a:xfrm>
          <a:prstGeom prst="rect">
            <a:avLst/>
          </a:prstGeom>
        </p:spPr>
      </p:pic>
      <p:sp>
        <p:nvSpPr>
          <p:cNvPr id="16" name="Text 11"/>
          <p:cNvSpPr txBox="1"/>
          <p:nvPr/>
        </p:nvSpPr>
        <p:spPr>
          <a:xfrm>
            <a:off x="1097280" y="1481328"/>
            <a:ext cx="1234440" cy="566928"/>
          </a:xfrm>
          <a:prstGeom prst="rect">
            <a:avLst/>
          </a:prstGeom>
          <a:noFill/>
        </p:spPr>
        <p:txBody>
          <a:bodyPr wrap="square" lIns="0" tIns="0" rIns="0" bIns="0" rtlCol="0" anchor="ctr"/>
          <a:lstStyle/>
          <a:p>
            <a:pPr marL="0" indent="0">
              <a:buNone/>
            </a:pPr>
            <a:r>
              <a:rPr lang="en-US" sz="1150" b="1" dirty="0">
                <a:solidFill>
                  <a:srgbClr val="0B2545"/>
                </a:solidFill>
                <a:latin typeface="Calibri" panose="020F0502020204030204" pitchFamily="34" charset="0"/>
                <a:ea typeface="Calibri" panose="020F0502020204030204" pitchFamily="34" charset="-122"/>
                <a:cs typeface="Calibri" panose="020F0502020204030204" pitchFamily="34" charset="-120"/>
              </a:rPr>
              <a:t>Department names</a:t>
            </a:r>
            <a:endParaRPr lang="en-US" sz="1150" dirty="0"/>
          </a:p>
        </p:txBody>
      </p:sp>
      <p:sp>
        <p:nvSpPr>
          <p:cNvPr id="17" name="Text 12"/>
          <p:cNvSpPr txBox="1"/>
          <p:nvPr/>
        </p:nvSpPr>
        <p:spPr>
          <a:xfrm>
            <a:off x="2507672" y="1481328"/>
            <a:ext cx="2887287"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"Icu" vs "ICU"</a:t>
            </a:r>
            <a:endParaRPr lang="en-US" sz="1050" dirty="0"/>
          </a:p>
        </p:txBody>
      </p:sp>
      <p:sp>
        <p:nvSpPr>
          <p:cNvPr id="18" name="Text 13"/>
          <p:cNvSpPr txBox="1"/>
          <p:nvPr/>
        </p:nvSpPr>
        <p:spPr>
          <a:xfrm>
            <a:off x="5577840" y="1481328"/>
            <a:ext cx="3017520"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One standard label for all 7 departments</a:t>
            </a:r>
            <a:endParaRPr lang="en-US" sz="1050" dirty="0"/>
          </a:p>
        </p:txBody>
      </p:sp>
      <p:sp>
        <p:nvSpPr>
          <p:cNvPr id="19" name="Shape 14"/>
          <p:cNvSpPr/>
          <p:nvPr/>
        </p:nvSpPr>
        <p:spPr>
          <a:xfrm>
            <a:off x="457200" y="2121408"/>
            <a:ext cx="8229600" cy="566928"/>
          </a:xfrm>
          <a:prstGeom prst="rect">
            <a:avLst/>
          </a:prstGeom>
          <a:solidFill>
            <a:srgbClr val="F2F6F9"/>
          </a:solidFill>
          <a:ln w="12700">
            <a:solidFill>
              <a:srgbClr val="F2F6F9"/>
            </a:solidFill>
            <a:prstDash val="solid"/>
          </a:ln>
        </p:spPr>
        <p:txBody>
          <a:bodyPr/>
          <a:lstStyle/>
          <a:p>
            <a:endParaRPr lang="en-US"/>
          </a:p>
        </p:txBody>
      </p:sp>
      <p:sp>
        <p:nvSpPr>
          <p:cNvPr id="20" name="Shape 15"/>
          <p:cNvSpPr/>
          <p:nvPr/>
        </p:nvSpPr>
        <p:spPr>
          <a:xfrm>
            <a:off x="548640" y="2185416"/>
            <a:ext cx="438912" cy="438912"/>
          </a:xfrm>
          <a:prstGeom prst="ellipse">
            <a:avLst/>
          </a:prstGeom>
          <a:solidFill>
            <a:srgbClr val="13A89E"/>
          </a:solidFill>
          <a:ln w="12700">
            <a:solidFill>
              <a:srgbClr val="13A89E"/>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58368" y="2295144"/>
            <a:ext cx="219456" cy="219456"/>
          </a:xfrm>
          <a:prstGeom prst="rect">
            <a:avLst/>
          </a:prstGeom>
        </p:spPr>
      </p:pic>
      <p:sp>
        <p:nvSpPr>
          <p:cNvPr id="22" name="Text 16"/>
          <p:cNvSpPr txBox="1"/>
          <p:nvPr/>
        </p:nvSpPr>
        <p:spPr>
          <a:xfrm>
            <a:off x="1097280" y="2121408"/>
            <a:ext cx="1234440" cy="566928"/>
          </a:xfrm>
          <a:prstGeom prst="rect">
            <a:avLst/>
          </a:prstGeom>
          <a:noFill/>
        </p:spPr>
        <p:txBody>
          <a:bodyPr wrap="square" lIns="0" tIns="0" rIns="0" bIns="0" rtlCol="0" anchor="ctr"/>
          <a:lstStyle/>
          <a:p>
            <a:pPr marL="0" indent="0">
              <a:buNone/>
            </a:pPr>
            <a:r>
              <a:rPr lang="en-US" sz="1150" b="1" dirty="0">
                <a:solidFill>
                  <a:srgbClr val="0B2545"/>
                </a:solidFill>
                <a:latin typeface="Calibri" panose="020F0502020204030204" pitchFamily="34" charset="0"/>
                <a:ea typeface="Calibri" panose="020F0502020204030204" pitchFamily="34" charset="-122"/>
                <a:cs typeface="Calibri" panose="020F0502020204030204" pitchFamily="34" charset="-120"/>
              </a:rPr>
              <a:t>Billing amounts</a:t>
            </a:r>
            <a:endParaRPr lang="en-US" sz="1150" dirty="0"/>
          </a:p>
        </p:txBody>
      </p:sp>
      <p:sp>
        <p:nvSpPr>
          <p:cNvPr id="23" name="Text 17"/>
          <p:cNvSpPr txBox="1"/>
          <p:nvPr/>
        </p:nvSpPr>
        <p:spPr>
          <a:xfrm>
            <a:off x="2507672" y="2121408"/>
            <a:ext cx="2887288"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Text like "$16,910.89"</a:t>
            </a:r>
            <a:endParaRPr lang="en-US" sz="1050" dirty="0"/>
          </a:p>
        </p:txBody>
      </p:sp>
      <p:sp>
        <p:nvSpPr>
          <p:cNvPr id="24" name="Text 18"/>
          <p:cNvSpPr txBox="1"/>
          <p:nvPr/>
        </p:nvSpPr>
        <p:spPr>
          <a:xfrm>
            <a:off x="5577840" y="2121408"/>
            <a:ext cx="3017520"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Numeric currency values</a:t>
            </a:r>
            <a:endParaRPr lang="en-US" sz="1050" dirty="0"/>
          </a:p>
        </p:txBody>
      </p:sp>
      <p:sp>
        <p:nvSpPr>
          <p:cNvPr id="25" name="Shape 19"/>
          <p:cNvSpPr/>
          <p:nvPr/>
        </p:nvSpPr>
        <p:spPr>
          <a:xfrm>
            <a:off x="457200" y="2761488"/>
            <a:ext cx="8229600" cy="566928"/>
          </a:xfrm>
          <a:prstGeom prst="rect">
            <a:avLst/>
          </a:prstGeom>
          <a:solidFill>
            <a:srgbClr val="F2F6F9"/>
          </a:solidFill>
          <a:ln w="12700">
            <a:solidFill>
              <a:srgbClr val="F2F6F9"/>
            </a:solidFill>
            <a:prstDash val="solid"/>
          </a:ln>
        </p:spPr>
        <p:txBody>
          <a:bodyPr/>
          <a:lstStyle/>
          <a:p>
            <a:endParaRPr lang="en-US"/>
          </a:p>
        </p:txBody>
      </p:sp>
      <p:sp>
        <p:nvSpPr>
          <p:cNvPr id="26" name="Shape 20"/>
          <p:cNvSpPr/>
          <p:nvPr/>
        </p:nvSpPr>
        <p:spPr>
          <a:xfrm>
            <a:off x="548640" y="2825496"/>
            <a:ext cx="438912" cy="438912"/>
          </a:xfrm>
          <a:prstGeom prst="ellipse">
            <a:avLst/>
          </a:prstGeom>
          <a:solidFill>
            <a:srgbClr val="13A89E"/>
          </a:solidFill>
          <a:ln w="12700">
            <a:solidFill>
              <a:srgbClr val="13A89E"/>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658368" y="2935224"/>
            <a:ext cx="219456" cy="219456"/>
          </a:xfrm>
          <a:prstGeom prst="rect">
            <a:avLst/>
          </a:prstGeom>
        </p:spPr>
      </p:pic>
      <p:sp>
        <p:nvSpPr>
          <p:cNvPr id="28" name="Text 21"/>
          <p:cNvSpPr txBox="1"/>
          <p:nvPr/>
        </p:nvSpPr>
        <p:spPr>
          <a:xfrm>
            <a:off x="1073588" y="2825496"/>
            <a:ext cx="1348047" cy="438912"/>
          </a:xfrm>
          <a:prstGeom prst="rect">
            <a:avLst/>
          </a:prstGeom>
          <a:noFill/>
        </p:spPr>
        <p:txBody>
          <a:bodyPr wrap="square" lIns="0" tIns="0" rIns="0" bIns="0" rtlCol="0" anchor="ctr"/>
          <a:lstStyle/>
          <a:p>
            <a:pPr marL="0" indent="0">
              <a:buNone/>
            </a:pPr>
            <a:r>
              <a:rPr lang="en-US" sz="1150" b="1" dirty="0">
                <a:solidFill>
                  <a:srgbClr val="0B2545"/>
                </a:solidFill>
                <a:latin typeface="Calibri" panose="020F0502020204030204" pitchFamily="34" charset="0"/>
                <a:ea typeface="Calibri" panose="020F0502020204030204" pitchFamily="34" charset="-122"/>
                <a:cs typeface="Calibri" panose="020F0502020204030204" pitchFamily="34" charset="-120"/>
              </a:rPr>
              <a:t>Admission/discharge dates</a:t>
            </a:r>
            <a:endParaRPr lang="en-US" sz="1150" dirty="0"/>
          </a:p>
        </p:txBody>
      </p:sp>
      <p:sp>
        <p:nvSpPr>
          <p:cNvPr id="29" name="Text 22"/>
          <p:cNvSpPr txBox="1"/>
          <p:nvPr/>
        </p:nvSpPr>
        <p:spPr>
          <a:xfrm>
            <a:off x="2507672" y="2761488"/>
            <a:ext cx="2887287"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Mixed numbers and text</a:t>
            </a:r>
            <a:endParaRPr lang="en-US" sz="1050" dirty="0"/>
          </a:p>
        </p:txBody>
      </p:sp>
      <p:sp>
        <p:nvSpPr>
          <p:cNvPr id="30" name="Text 23"/>
          <p:cNvSpPr txBox="1"/>
          <p:nvPr/>
        </p:nvSpPr>
        <p:spPr>
          <a:xfrm>
            <a:off x="5577840" y="2761488"/>
            <a:ext cx="3017520"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One consistent date type</a:t>
            </a:r>
            <a:endParaRPr lang="en-US" sz="1050" dirty="0"/>
          </a:p>
        </p:txBody>
      </p:sp>
      <p:sp>
        <p:nvSpPr>
          <p:cNvPr id="31" name="Shape 24"/>
          <p:cNvSpPr/>
          <p:nvPr/>
        </p:nvSpPr>
        <p:spPr>
          <a:xfrm>
            <a:off x="457200" y="3401568"/>
            <a:ext cx="8229600" cy="566928"/>
          </a:xfrm>
          <a:prstGeom prst="rect">
            <a:avLst/>
          </a:prstGeom>
          <a:solidFill>
            <a:srgbClr val="FDECE7"/>
          </a:solidFill>
          <a:ln w="12700">
            <a:solidFill>
              <a:srgbClr val="FDECE7"/>
            </a:solidFill>
            <a:prstDash val="solid"/>
          </a:ln>
        </p:spPr>
        <p:txBody>
          <a:bodyPr/>
          <a:lstStyle/>
          <a:p>
            <a:endParaRPr lang="en-US"/>
          </a:p>
        </p:txBody>
      </p:sp>
      <p:sp>
        <p:nvSpPr>
          <p:cNvPr id="32" name="Shape 25"/>
          <p:cNvSpPr/>
          <p:nvPr/>
        </p:nvSpPr>
        <p:spPr>
          <a:xfrm>
            <a:off x="548640" y="3465576"/>
            <a:ext cx="438912" cy="438912"/>
          </a:xfrm>
          <a:prstGeom prst="ellipse">
            <a:avLst/>
          </a:prstGeom>
          <a:solidFill>
            <a:srgbClr val="E4572E"/>
          </a:solidFill>
          <a:ln w="12700">
            <a:solidFill>
              <a:srgbClr val="E4572E"/>
            </a:solidFill>
            <a:prstDash val="solid"/>
          </a:ln>
        </p:spPr>
        <p:txBody>
          <a:bodyPr/>
          <a:lstStyle/>
          <a:p>
            <a:endParaRPr lang="en-US"/>
          </a:p>
        </p:txBody>
      </p:sp>
      <p:pic>
        <p:nvPicPr>
          <p:cNvPr id="33" name="Image 4" descr="preencoded.png"/>
          <p:cNvPicPr>
            <a:picLocks noChangeAspect="1"/>
          </p:cNvPicPr>
          <p:nvPr/>
        </p:nvPicPr>
        <p:blipFill>
          <a:blip r:embed="rId7"/>
          <a:stretch>
            <a:fillRect/>
          </a:stretch>
        </p:blipFill>
        <p:spPr>
          <a:xfrm>
            <a:off x="658368" y="3575304"/>
            <a:ext cx="219456" cy="219456"/>
          </a:xfrm>
          <a:prstGeom prst="rect">
            <a:avLst/>
          </a:prstGeom>
        </p:spPr>
      </p:pic>
      <p:sp>
        <p:nvSpPr>
          <p:cNvPr id="34" name="Text 26"/>
          <p:cNvSpPr txBox="1"/>
          <p:nvPr/>
        </p:nvSpPr>
        <p:spPr>
          <a:xfrm>
            <a:off x="1097280" y="3401568"/>
            <a:ext cx="1234440" cy="566928"/>
          </a:xfrm>
          <a:prstGeom prst="rect">
            <a:avLst/>
          </a:prstGeom>
          <a:noFill/>
        </p:spPr>
        <p:txBody>
          <a:bodyPr wrap="square" lIns="0" tIns="0" rIns="0" bIns="0" rtlCol="0" anchor="ctr"/>
          <a:lstStyle/>
          <a:p>
            <a:pPr marL="0" indent="0">
              <a:buNone/>
            </a:pPr>
            <a:r>
              <a:rPr lang="en-US" sz="1150" b="1" dirty="0">
                <a:solidFill>
                  <a:srgbClr val="0B2545"/>
                </a:solidFill>
                <a:latin typeface="Calibri" panose="020F0502020204030204" pitchFamily="34" charset="0"/>
                <a:ea typeface="Calibri" panose="020F0502020204030204" pitchFamily="34" charset="-122"/>
                <a:cs typeface="Calibri" panose="020F0502020204030204" pitchFamily="34" charset="-120"/>
              </a:rPr>
              <a:t>Invalid date pairs</a:t>
            </a:r>
            <a:endParaRPr lang="en-US" sz="1150" dirty="0"/>
          </a:p>
        </p:txBody>
      </p:sp>
      <p:sp>
        <p:nvSpPr>
          <p:cNvPr id="35" name="Text 27"/>
          <p:cNvSpPr txBox="1"/>
          <p:nvPr/>
        </p:nvSpPr>
        <p:spPr>
          <a:xfrm>
            <a:off x="2507672" y="3401568"/>
            <a:ext cx="2887288"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273 records (28%) discharge before admission</a:t>
            </a:r>
            <a:endParaRPr lang="en-US" sz="1050" dirty="0"/>
          </a:p>
        </p:txBody>
      </p:sp>
      <p:sp>
        <p:nvSpPr>
          <p:cNvPr id="36" name="Text 28"/>
          <p:cNvSpPr txBox="1"/>
          <p:nvPr/>
        </p:nvSpPr>
        <p:spPr>
          <a:xfrm>
            <a:off x="5577840" y="3401568"/>
            <a:ext cx="3017520"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Flagged, not guessed; used the existing Length of Stay field</a:t>
            </a:r>
            <a:endParaRPr lang="en-US" sz="1050" dirty="0"/>
          </a:p>
        </p:txBody>
      </p:sp>
      <p:sp>
        <p:nvSpPr>
          <p:cNvPr id="37" name="Shape 29"/>
          <p:cNvSpPr/>
          <p:nvPr/>
        </p:nvSpPr>
        <p:spPr>
          <a:xfrm>
            <a:off x="457200" y="4041648"/>
            <a:ext cx="8229600" cy="566928"/>
          </a:xfrm>
          <a:prstGeom prst="rect">
            <a:avLst/>
          </a:prstGeom>
          <a:solidFill>
            <a:srgbClr val="F2F6F9"/>
          </a:solidFill>
          <a:ln w="12700">
            <a:solidFill>
              <a:srgbClr val="F2F6F9"/>
            </a:solidFill>
            <a:prstDash val="solid"/>
          </a:ln>
        </p:spPr>
        <p:txBody>
          <a:bodyPr/>
          <a:lstStyle/>
          <a:p>
            <a:endParaRPr lang="en-US"/>
          </a:p>
        </p:txBody>
      </p:sp>
      <p:sp>
        <p:nvSpPr>
          <p:cNvPr id="38" name="Shape 30"/>
          <p:cNvSpPr/>
          <p:nvPr/>
        </p:nvSpPr>
        <p:spPr>
          <a:xfrm>
            <a:off x="548640" y="4105656"/>
            <a:ext cx="438912" cy="438912"/>
          </a:xfrm>
          <a:prstGeom prst="ellipse">
            <a:avLst/>
          </a:prstGeom>
          <a:solidFill>
            <a:srgbClr val="13A89E"/>
          </a:solidFill>
          <a:ln w="12700">
            <a:solidFill>
              <a:srgbClr val="13A89E"/>
            </a:solidFill>
            <a:prstDash val="solid"/>
          </a:ln>
        </p:spPr>
        <p:txBody>
          <a:bodyPr/>
          <a:lstStyle/>
          <a:p>
            <a:endParaRPr lang="en-US"/>
          </a:p>
        </p:txBody>
      </p:sp>
      <p:pic>
        <p:nvPicPr>
          <p:cNvPr id="39" name="Image 5" descr="preencoded.png"/>
          <p:cNvPicPr>
            <a:picLocks noChangeAspect="1"/>
          </p:cNvPicPr>
          <p:nvPr/>
        </p:nvPicPr>
        <p:blipFill>
          <a:blip r:embed="rId8"/>
          <a:stretch>
            <a:fillRect/>
          </a:stretch>
        </p:blipFill>
        <p:spPr>
          <a:xfrm>
            <a:off x="658368" y="4215384"/>
            <a:ext cx="219456" cy="219456"/>
          </a:xfrm>
          <a:prstGeom prst="rect">
            <a:avLst/>
          </a:prstGeom>
        </p:spPr>
      </p:pic>
      <p:sp>
        <p:nvSpPr>
          <p:cNvPr id="40" name="Text 31"/>
          <p:cNvSpPr txBox="1"/>
          <p:nvPr/>
        </p:nvSpPr>
        <p:spPr>
          <a:xfrm>
            <a:off x="1097280" y="4041648"/>
            <a:ext cx="1234440" cy="566928"/>
          </a:xfrm>
          <a:prstGeom prst="rect">
            <a:avLst/>
          </a:prstGeom>
          <a:noFill/>
        </p:spPr>
        <p:txBody>
          <a:bodyPr wrap="square" lIns="0" tIns="0" rIns="0" bIns="0" rtlCol="0" anchor="ctr"/>
          <a:lstStyle/>
          <a:p>
            <a:pPr marL="0" indent="0">
              <a:buNone/>
            </a:pPr>
            <a:r>
              <a:rPr lang="en-US" sz="1150" b="1" dirty="0">
                <a:solidFill>
                  <a:srgbClr val="0B2545"/>
                </a:solidFill>
                <a:latin typeface="Calibri" panose="020F0502020204030204" pitchFamily="34" charset="0"/>
                <a:ea typeface="Calibri" panose="020F0502020204030204" pitchFamily="34" charset="-122"/>
                <a:cs typeface="Calibri" panose="020F0502020204030204" pitchFamily="34" charset="-120"/>
              </a:rPr>
              <a:t>Outlier check (IQR)</a:t>
            </a:r>
            <a:endParaRPr lang="en-US" sz="1150" dirty="0"/>
          </a:p>
        </p:txBody>
      </p:sp>
      <p:sp>
        <p:nvSpPr>
          <p:cNvPr id="41" name="Text 32"/>
          <p:cNvSpPr txBox="1"/>
          <p:nvPr/>
        </p:nvSpPr>
        <p:spPr>
          <a:xfrm>
            <a:off x="2507672" y="4041648"/>
            <a:ext cx="2887288"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Stays range 1 to 14 days</a:t>
            </a:r>
            <a:endParaRPr lang="en-US" sz="1050" dirty="0"/>
          </a:p>
        </p:txBody>
      </p:sp>
      <p:sp>
        <p:nvSpPr>
          <p:cNvPr id="42" name="Text 33"/>
          <p:cNvSpPr txBox="1"/>
          <p:nvPr/>
        </p:nvSpPr>
        <p:spPr>
          <a:xfrm>
            <a:off x="5577840" y="4041648"/>
            <a:ext cx="3017520" cy="566928"/>
          </a:xfrm>
          <a:prstGeom prst="rect">
            <a:avLst/>
          </a:prstGeom>
          <a:noFill/>
        </p:spPr>
        <p:txBody>
          <a:bodyPr wrap="square" lIns="0" tIns="0" rIns="0" bIns="0" rtlCol="0" anchor="ctr"/>
          <a:lstStyle/>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0 outliers found; no extreme values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242316"/>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LIVE DASHBOARD DEPLOYED</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Refreshable metrics ready for administrative deployment</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dirty="0"/>
          </a:p>
        </p:txBody>
      </p:sp>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5</a:t>
            </a:r>
          </a:p>
        </p:txBody>
      </p:sp>
      <p:pic>
        <p:nvPicPr>
          <p:cNvPr id="16" name="Image 1" descr="preencoded.png"/>
          <p:cNvPicPr>
            <a:picLocks noChangeAspect="1"/>
          </p:cNvPicPr>
          <p:nvPr/>
        </p:nvPicPr>
        <p:blipFill>
          <a:blip r:embed="rId3"/>
          <a:stretch>
            <a:fillRect/>
          </a:stretch>
        </p:blipFill>
        <p:spPr>
          <a:xfrm>
            <a:off x="708660" y="4183380"/>
            <a:ext cx="228600" cy="228600"/>
          </a:xfrm>
          <a:prstGeom prst="rect">
            <a:avLst/>
          </a:prstGeom>
        </p:spPr>
      </p:pic>
      <p:pic>
        <p:nvPicPr>
          <p:cNvPr id="21" name="Image 2" descr="preencoded.png"/>
          <p:cNvPicPr>
            <a:picLocks noChangeAspect="1"/>
          </p:cNvPicPr>
          <p:nvPr/>
        </p:nvPicPr>
        <p:blipFill>
          <a:blip r:embed="rId4"/>
          <a:stretch>
            <a:fillRect/>
          </a:stretch>
        </p:blipFill>
        <p:spPr>
          <a:xfrm>
            <a:off x="4914900" y="4183380"/>
            <a:ext cx="228600" cy="228600"/>
          </a:xfrm>
          <a:prstGeom prst="rect">
            <a:avLst/>
          </a:prstGeom>
        </p:spPr>
      </p:pic>
      <p:pic>
        <p:nvPicPr>
          <p:cNvPr id="107" name="Image 0" descr="preencoded.png"/>
          <p:cNvPicPr>
            <a:picLocks noChangeAspect="1"/>
          </p:cNvPicPr>
          <p:nvPr/>
        </p:nvPicPr>
        <p:blipFill>
          <a:blip r:embed="rId5"/>
          <a:stretch>
            <a:fillRect/>
          </a:stretch>
        </p:blipFill>
        <p:spPr>
          <a:xfrm>
            <a:off x="8275320" y="347472"/>
            <a:ext cx="365760" cy="365760"/>
          </a:xfrm>
          <a:prstGeom prst="rect">
            <a:avLst/>
          </a:prstGeom>
        </p:spPr>
      </p:pic>
      <p:pic>
        <p:nvPicPr>
          <p:cNvPr id="10" name="Picture 9">
            <a:extLst>
              <a:ext uri="{FF2B5EF4-FFF2-40B4-BE49-F238E27FC236}">
                <a16:creationId xmlns:a16="http://schemas.microsoft.com/office/drawing/2014/main" id="{F9FEA755-6ECF-8363-53A8-2167A57543D2}"/>
              </a:ext>
            </a:extLst>
          </p:cNvPr>
          <p:cNvPicPr>
            <a:picLocks noChangeAspect="1"/>
          </p:cNvPicPr>
          <p:nvPr/>
        </p:nvPicPr>
        <p:blipFill>
          <a:blip r:embed="rId6"/>
          <a:stretch>
            <a:fillRect/>
          </a:stretch>
        </p:blipFill>
        <p:spPr>
          <a:xfrm>
            <a:off x="378846" y="1304109"/>
            <a:ext cx="8262234" cy="35204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168654"/>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THE BIG PICTURE</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Total admissions: Steady flow</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6</a:t>
            </a:r>
          </a:p>
        </p:txBody>
      </p:sp>
      <p:sp>
        <p:nvSpPr>
          <p:cNvPr id="11" name="Shape 7"/>
          <p:cNvSpPr/>
          <p:nvPr/>
        </p:nvSpPr>
        <p:spPr>
          <a:xfrm>
            <a:off x="754739" y="1280160"/>
            <a:ext cx="1920240" cy="777240"/>
          </a:xfrm>
          <a:prstGeom prst="rect">
            <a:avLst/>
          </a:prstGeom>
          <a:solidFill>
            <a:srgbClr val="0B2545"/>
          </a:solidFill>
          <a:ln w="12700">
            <a:solidFill>
              <a:srgbClr val="0B2545"/>
            </a:solidFill>
            <a:prstDash val="solid"/>
          </a:ln>
        </p:spPr>
        <p:txBody>
          <a:bodyPr/>
          <a:lstStyle/>
          <a:p>
            <a:endParaRPr lang="en-US"/>
          </a:p>
        </p:txBody>
      </p:sp>
      <p:sp>
        <p:nvSpPr>
          <p:cNvPr id="12" name="Shape 8"/>
          <p:cNvSpPr/>
          <p:nvPr/>
        </p:nvSpPr>
        <p:spPr>
          <a:xfrm>
            <a:off x="864467" y="1417320"/>
            <a:ext cx="502920" cy="502920"/>
          </a:xfrm>
          <a:prstGeom prst="ellipse">
            <a:avLst/>
          </a:prstGeom>
          <a:solidFill>
            <a:srgbClr val="13A89E"/>
          </a:solidFill>
          <a:ln w="12700">
            <a:solidFill>
              <a:srgbClr val="13A89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990197" y="1543050"/>
            <a:ext cx="251460" cy="251460"/>
          </a:xfrm>
          <a:prstGeom prst="rect">
            <a:avLst/>
          </a:prstGeom>
        </p:spPr>
      </p:pic>
      <p:sp>
        <p:nvSpPr>
          <p:cNvPr id="14" name="Text 9"/>
          <p:cNvSpPr txBox="1"/>
          <p:nvPr/>
        </p:nvSpPr>
        <p:spPr>
          <a:xfrm>
            <a:off x="1440539" y="1280160"/>
            <a:ext cx="1188720" cy="777240"/>
          </a:xfrm>
          <a:prstGeom prst="rect">
            <a:avLst/>
          </a:prstGeom>
          <a:noFill/>
        </p:spPr>
        <p:txBody>
          <a:bodyPr wrap="square" lIns="0" tIns="0" rIns="0" bIns="0" rtlCol="0" anchor="ctr"/>
          <a:lstStyle/>
          <a:p>
            <a:pPr marL="0" indent="0">
              <a:buNone/>
            </a:pPr>
            <a:r>
              <a:rPr lang="en-US" sz="2000" b="1" dirty="0">
                <a:solidFill>
                  <a:srgbClr val="7FE0D6"/>
                </a:solidFill>
                <a:latin typeface="Calibri" panose="020F0502020204030204" pitchFamily="34" charset="0"/>
                <a:ea typeface="Calibri" panose="020F0502020204030204" pitchFamily="34" charset="-122"/>
                <a:cs typeface="Calibri" panose="020F0502020204030204" pitchFamily="34" charset="-120"/>
              </a:rPr>
              <a:t>984</a:t>
            </a:r>
            <a:endParaRPr lang="en-US" sz="2000" dirty="0"/>
          </a:p>
          <a:p>
            <a:pPr marL="0" indent="0">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Total admissions</a:t>
            </a:r>
            <a:endParaRPr lang="en-US" sz="2000" dirty="0"/>
          </a:p>
        </p:txBody>
      </p:sp>
      <p:sp>
        <p:nvSpPr>
          <p:cNvPr id="15" name="Shape 10"/>
          <p:cNvSpPr/>
          <p:nvPr/>
        </p:nvSpPr>
        <p:spPr>
          <a:xfrm>
            <a:off x="2857859" y="1280160"/>
            <a:ext cx="1920240" cy="777240"/>
          </a:xfrm>
          <a:prstGeom prst="rect">
            <a:avLst/>
          </a:prstGeom>
          <a:solidFill>
            <a:srgbClr val="0B2545"/>
          </a:solidFill>
          <a:ln w="12700">
            <a:solidFill>
              <a:srgbClr val="0B2545"/>
            </a:solidFill>
            <a:prstDash val="solid"/>
          </a:ln>
        </p:spPr>
        <p:txBody>
          <a:bodyPr/>
          <a:lstStyle/>
          <a:p>
            <a:endParaRPr lang="en-US"/>
          </a:p>
        </p:txBody>
      </p:sp>
      <p:sp>
        <p:nvSpPr>
          <p:cNvPr id="16" name="Shape 11"/>
          <p:cNvSpPr/>
          <p:nvPr/>
        </p:nvSpPr>
        <p:spPr>
          <a:xfrm>
            <a:off x="2967587" y="1417320"/>
            <a:ext cx="502920" cy="502920"/>
          </a:xfrm>
          <a:prstGeom prst="ellipse">
            <a:avLst/>
          </a:prstGeom>
          <a:solidFill>
            <a:srgbClr val="13A89E"/>
          </a:solidFill>
          <a:ln w="12700">
            <a:solidFill>
              <a:srgbClr val="13A89E"/>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093317" y="1543050"/>
            <a:ext cx="251460" cy="251460"/>
          </a:xfrm>
          <a:prstGeom prst="rect">
            <a:avLst/>
          </a:prstGeom>
        </p:spPr>
      </p:pic>
      <p:sp>
        <p:nvSpPr>
          <p:cNvPr id="18" name="Text 12"/>
          <p:cNvSpPr txBox="1"/>
          <p:nvPr/>
        </p:nvSpPr>
        <p:spPr>
          <a:xfrm>
            <a:off x="3543659" y="1280160"/>
            <a:ext cx="1188720" cy="777240"/>
          </a:xfrm>
          <a:prstGeom prst="rect">
            <a:avLst/>
          </a:prstGeom>
          <a:noFill/>
        </p:spPr>
        <p:txBody>
          <a:bodyPr wrap="square" lIns="0" tIns="0" rIns="0" bIns="0" rtlCol="0" anchor="ctr"/>
          <a:lstStyle/>
          <a:p>
            <a:pPr marL="0" indent="0">
              <a:buNone/>
            </a:pPr>
            <a:r>
              <a:rPr lang="en-US" sz="2000" b="1" dirty="0">
                <a:solidFill>
                  <a:srgbClr val="7FE0D6"/>
                </a:solidFill>
                <a:latin typeface="Calibri" panose="020F0502020204030204" pitchFamily="34" charset="0"/>
                <a:ea typeface="Calibri" panose="020F0502020204030204" pitchFamily="34" charset="-122"/>
                <a:cs typeface="Calibri" panose="020F0502020204030204" pitchFamily="34" charset="-120"/>
              </a:rPr>
              <a:t>8 days</a:t>
            </a:r>
            <a:endParaRPr lang="en-US" sz="2000" dirty="0"/>
          </a:p>
          <a:p>
            <a:pPr marL="0" indent="0">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Avg length of stay</a:t>
            </a:r>
            <a:endParaRPr lang="en-US" sz="2000" dirty="0"/>
          </a:p>
        </p:txBody>
      </p:sp>
      <p:graphicFrame>
        <p:nvGraphicFramePr>
          <p:cNvPr id="27" name="Chart 0"/>
          <p:cNvGraphicFramePr/>
          <p:nvPr>
            <p:extLst>
              <p:ext uri="{D42A27DB-BD31-4B8C-83A1-F6EECF244321}">
                <p14:modId xmlns:p14="http://schemas.microsoft.com/office/powerpoint/2010/main" val="493459380"/>
              </p:ext>
            </p:extLst>
          </p:nvPr>
        </p:nvGraphicFramePr>
        <p:xfrm>
          <a:off x="457200" y="2194560"/>
          <a:ext cx="5394960" cy="2560320"/>
        </p:xfrm>
        <a:graphic>
          <a:graphicData uri="http://schemas.openxmlformats.org/drawingml/2006/chart">
            <c:chart xmlns:c="http://schemas.openxmlformats.org/drawingml/2006/chart" xmlns:r="http://schemas.openxmlformats.org/officeDocument/2006/relationships" r:id="rId6"/>
          </a:graphicData>
        </a:graphic>
      </p:graphicFrame>
      <p:sp>
        <p:nvSpPr>
          <p:cNvPr id="28" name="Shape 19"/>
          <p:cNvSpPr/>
          <p:nvPr/>
        </p:nvSpPr>
        <p:spPr>
          <a:xfrm>
            <a:off x="6035040" y="2286000"/>
            <a:ext cx="2651760" cy="2377440"/>
          </a:xfrm>
          <a:prstGeom prst="rect">
            <a:avLst/>
          </a:prstGeom>
          <a:solidFill>
            <a:srgbClr val="F2F6F9"/>
          </a:solidFill>
          <a:ln w="12700">
            <a:solidFill>
              <a:srgbClr val="F2F6F9"/>
            </a:solidFill>
            <a:prstDash val="solid"/>
          </a:ln>
        </p:spPr>
        <p:txBody>
          <a:bodyPr/>
          <a:lstStyle/>
          <a:p>
            <a:endParaRPr lang="en-US"/>
          </a:p>
        </p:txBody>
      </p:sp>
      <p:sp>
        <p:nvSpPr>
          <p:cNvPr id="29" name="Shape 20"/>
          <p:cNvSpPr/>
          <p:nvPr/>
        </p:nvSpPr>
        <p:spPr>
          <a:xfrm>
            <a:off x="6035040" y="2286000"/>
            <a:ext cx="64008" cy="2377440"/>
          </a:xfrm>
          <a:prstGeom prst="rect">
            <a:avLst/>
          </a:prstGeom>
          <a:solidFill>
            <a:srgbClr val="E4572E"/>
          </a:solidFill>
          <a:ln w="12700">
            <a:solidFill>
              <a:srgbClr val="E4572E"/>
            </a:solidFill>
            <a:prstDash val="solid"/>
          </a:ln>
        </p:spPr>
        <p:txBody>
          <a:bodyPr/>
          <a:lstStyle/>
          <a:p>
            <a:endParaRPr lang="en-US"/>
          </a:p>
        </p:txBody>
      </p:sp>
      <p:sp>
        <p:nvSpPr>
          <p:cNvPr id="30" name="Text 21"/>
          <p:cNvSpPr txBox="1"/>
          <p:nvPr/>
        </p:nvSpPr>
        <p:spPr>
          <a:xfrm>
            <a:off x="6217920" y="2377440"/>
            <a:ext cx="2313432" cy="2194560"/>
          </a:xfrm>
          <a:prstGeom prst="rect">
            <a:avLst/>
          </a:prstGeom>
          <a:noFill/>
        </p:spPr>
        <p:txBody>
          <a:bodyPr wrap="square" lIns="0" tIns="0" rIns="0" bIns="0" rtlCol="0" anchor="t"/>
          <a:lstStyle/>
          <a:p>
            <a:pPr marL="0" indent="0">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What the trend tells us</a:t>
            </a:r>
            <a:endParaRPr lang="en-US" sz="1300" dirty="0"/>
          </a:p>
          <a:p>
            <a:pPr marL="0" indent="0">
              <a:buNone/>
            </a:pPr>
            <a:endParaRPr lang="en-US" sz="500" dirty="0">
              <a:solidFill>
                <a:srgbClr val="3A4A5A"/>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The dashboard’s top-line numbers include a total admission of 984 patients, an average length of stay across the admission records of 8 days. These figures give the overall snapshot of the records in the dataset. The Admissions Trend chart shows that admissions were relatively steady from January through August, followed by a marked drop in September.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214884"/>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AVERAGE LENGTH OF STAY AND OUTCOME DISTRIBUTION</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Stays are remarkably uniform across departments</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7</a:t>
            </a:r>
          </a:p>
        </p:txBody>
      </p:sp>
      <p:pic>
        <p:nvPicPr>
          <p:cNvPr id="19" name="Picture 18">
            <a:extLst>
              <a:ext uri="{FF2B5EF4-FFF2-40B4-BE49-F238E27FC236}">
                <a16:creationId xmlns:a16="http://schemas.microsoft.com/office/drawing/2014/main" id="{EBC3527C-F674-DA84-2EA3-B9BC1C9048EB}"/>
              </a:ext>
            </a:extLst>
          </p:cNvPr>
          <p:cNvPicPr>
            <a:picLocks noChangeAspect="1"/>
          </p:cNvPicPr>
          <p:nvPr/>
        </p:nvPicPr>
        <p:blipFill>
          <a:blip r:embed="rId4"/>
          <a:stretch>
            <a:fillRect/>
          </a:stretch>
        </p:blipFill>
        <p:spPr>
          <a:xfrm>
            <a:off x="217716" y="1099458"/>
            <a:ext cx="8686800" cy="2968154"/>
          </a:xfrm>
          <a:prstGeom prst="rect">
            <a:avLst/>
          </a:prstGeom>
        </p:spPr>
      </p:pic>
      <p:sp>
        <p:nvSpPr>
          <p:cNvPr id="20" name="TextBox 19">
            <a:extLst>
              <a:ext uri="{FF2B5EF4-FFF2-40B4-BE49-F238E27FC236}">
                <a16:creationId xmlns:a16="http://schemas.microsoft.com/office/drawing/2014/main" id="{5814C861-243B-E4B7-0F39-36A1DED17EA5}"/>
              </a:ext>
            </a:extLst>
          </p:cNvPr>
          <p:cNvSpPr txBox="1"/>
          <p:nvPr/>
        </p:nvSpPr>
        <p:spPr>
          <a:xfrm>
            <a:off x="210459" y="4115510"/>
            <a:ext cx="8584476" cy="861774"/>
          </a:xfrm>
          <a:prstGeom prst="rect">
            <a:avLst/>
          </a:prstGeom>
          <a:noFill/>
        </p:spPr>
        <p:txBody>
          <a:bodyPr wrap="square" rtlCol="0">
            <a:spAutoFit/>
          </a:bodyPr>
          <a:lstStyle/>
          <a:p>
            <a:r>
              <a:rPr lang="en-US" sz="1400" b="1" dirty="0"/>
              <a:t>Insight</a:t>
            </a:r>
          </a:p>
          <a:p>
            <a:r>
              <a:rPr lang="en-US" sz="1200" dirty="0"/>
              <a:t>The Average Length of Stay by Department chart shows that stays are tightly clustered between approximately 7 and 8 days across all departments. Oncology has the highest average at 8 days, while General Surgery is among the lowest at about 7 days. This means the differences in average stay between departments are relatively small in this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233172"/>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THE COST OF CARE</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Billing: Neurology costs the most, Emergency the least</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8</a:t>
            </a:r>
          </a:p>
        </p:txBody>
      </p:sp>
      <p:graphicFrame>
        <p:nvGraphicFramePr>
          <p:cNvPr id="11" name="Chart 0"/>
          <p:cNvGraphicFramePr/>
          <p:nvPr>
            <p:extLst>
              <p:ext uri="{D42A27DB-BD31-4B8C-83A1-F6EECF244321}">
                <p14:modId xmlns:p14="http://schemas.microsoft.com/office/powerpoint/2010/main" val="4212048796"/>
              </p:ext>
            </p:extLst>
          </p:nvPr>
        </p:nvGraphicFramePr>
        <p:xfrm>
          <a:off x="72571" y="1325880"/>
          <a:ext cx="5518332"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a:extLst>
              <a:ext uri="{FF2B5EF4-FFF2-40B4-BE49-F238E27FC236}">
                <a16:creationId xmlns:a16="http://schemas.microsoft.com/office/drawing/2014/main" id="{5C85D33F-B99D-60C4-9539-C836081A5D9D}"/>
              </a:ext>
            </a:extLst>
          </p:cNvPr>
          <p:cNvSpPr txBox="1"/>
          <p:nvPr/>
        </p:nvSpPr>
        <p:spPr>
          <a:xfrm>
            <a:off x="5758543" y="1549908"/>
            <a:ext cx="3222897" cy="1446550"/>
          </a:xfrm>
          <a:prstGeom prst="rect">
            <a:avLst/>
          </a:prstGeom>
          <a:noFill/>
        </p:spPr>
        <p:txBody>
          <a:bodyPr wrap="square" rtlCol="0">
            <a:spAutoFit/>
          </a:bodyPr>
          <a:lstStyle/>
          <a:p>
            <a:r>
              <a:rPr lang="en-US" sz="1400" b="1" dirty="0"/>
              <a:t>Insight</a:t>
            </a:r>
          </a:p>
          <a:p>
            <a:r>
              <a:rPr lang="en-US" sz="1200" dirty="0"/>
              <a:t>The chart shows that Emergency has the lowest average at approximately $11,328, while Neurology has the highest at approximately $13,008. The main observation is that billing averages are fairly close compared with one another.</a:t>
            </a:r>
          </a:p>
        </p:txBody>
      </p:sp>
      <p:sp>
        <p:nvSpPr>
          <p:cNvPr id="19" name="TextBox 18">
            <a:extLst>
              <a:ext uri="{FF2B5EF4-FFF2-40B4-BE49-F238E27FC236}">
                <a16:creationId xmlns:a16="http://schemas.microsoft.com/office/drawing/2014/main" id="{4419EEB3-80E6-A385-6E4A-D2913BA11811}"/>
              </a:ext>
            </a:extLst>
          </p:cNvPr>
          <p:cNvSpPr txBox="1"/>
          <p:nvPr/>
        </p:nvSpPr>
        <p:spPr>
          <a:xfrm>
            <a:off x="5758543" y="2996458"/>
            <a:ext cx="3055257"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latin typeface="Calibri"/>
              </a:rPr>
              <a:t>Recommendation</a:t>
            </a:r>
            <a:endParaRPr kumimoji="0" lang="en-US" sz="14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This information can help administrators identify departments whose average billing levels may warrant further review alongside patient volume, procedures, and other operational information. The billing figures alone do not establish why one department costs more.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242316"/>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OUTCOME BY AGE GROUP AND RE-ADMISSION RATE</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relationship between age and recovery rates</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t>9</a:t>
            </a:r>
          </a:p>
        </p:txBody>
      </p:sp>
      <p:pic>
        <p:nvPicPr>
          <p:cNvPr id="26" name="Picture 25">
            <a:extLst>
              <a:ext uri="{FF2B5EF4-FFF2-40B4-BE49-F238E27FC236}">
                <a16:creationId xmlns:a16="http://schemas.microsoft.com/office/drawing/2014/main" id="{2A39AA38-A294-5F2E-9D6D-3B909B65BB13}"/>
              </a:ext>
            </a:extLst>
          </p:cNvPr>
          <p:cNvPicPr>
            <a:picLocks noChangeAspect="1"/>
          </p:cNvPicPr>
          <p:nvPr/>
        </p:nvPicPr>
        <p:blipFill>
          <a:blip r:embed="rId4"/>
          <a:stretch>
            <a:fillRect/>
          </a:stretch>
        </p:blipFill>
        <p:spPr>
          <a:xfrm>
            <a:off x="446310" y="1115568"/>
            <a:ext cx="8194770" cy="2817366"/>
          </a:xfrm>
          <a:prstGeom prst="rect">
            <a:avLst/>
          </a:prstGeom>
        </p:spPr>
      </p:pic>
      <p:sp>
        <p:nvSpPr>
          <p:cNvPr id="27" name="TextBox 26">
            <a:extLst>
              <a:ext uri="{FF2B5EF4-FFF2-40B4-BE49-F238E27FC236}">
                <a16:creationId xmlns:a16="http://schemas.microsoft.com/office/drawing/2014/main" id="{917AFC88-C942-1A61-B89D-1BA31EAB469D}"/>
              </a:ext>
            </a:extLst>
          </p:cNvPr>
          <p:cNvSpPr txBox="1"/>
          <p:nvPr/>
        </p:nvSpPr>
        <p:spPr>
          <a:xfrm>
            <a:off x="446310" y="4006378"/>
            <a:ext cx="8183880" cy="1077218"/>
          </a:xfrm>
          <a:prstGeom prst="rect">
            <a:avLst/>
          </a:prstGeom>
          <a:noFill/>
        </p:spPr>
        <p:txBody>
          <a:bodyPr wrap="square" rtlCol="0">
            <a:spAutoFit/>
          </a:bodyPr>
          <a:lstStyle/>
          <a:p>
            <a:r>
              <a:rPr lang="en-US" sz="1400" b="1" dirty="0"/>
              <a:t>Insight</a:t>
            </a:r>
          </a:p>
          <a:p>
            <a:r>
              <a:rPr lang="en-US" sz="1200" dirty="0"/>
              <a:t>Patients aged 18 to 35 had a 100% recovery rate, while patients aged 70 and above had a 100% referral rate. The intermediate age groups that are 36 through 69,  fall between these two extremes. We report this as an observed pattern, not as proof that age causes a particular outcome. The  Readmission Rate by Department ranges from 22.7% in Pediatrics to 29.5% in Neurology. The rates for the other departments fall between these values.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0" y="1051560"/>
            <a:ext cx="9144000" cy="54864"/>
          </a:xfrm>
          <a:prstGeom prst="rect">
            <a:avLst/>
          </a:prstGeom>
          <a:solidFill>
            <a:srgbClr val="13A89E"/>
          </a:solidFill>
          <a:ln w="12700">
            <a:solidFill>
              <a:srgbClr val="13A89E"/>
            </a:solidFill>
            <a:prstDash val="solid"/>
          </a:ln>
        </p:spPr>
        <p:txBody>
          <a:bodyPr/>
          <a:lstStyle/>
          <a:p>
            <a:endParaRPr lang="en-US"/>
          </a:p>
        </p:txBody>
      </p:sp>
      <p:sp>
        <p:nvSpPr>
          <p:cNvPr id="4" name="Text 2"/>
          <p:cNvSpPr txBox="1"/>
          <p:nvPr/>
        </p:nvSpPr>
        <p:spPr>
          <a:xfrm>
            <a:off x="457200" y="128016"/>
            <a:ext cx="6400800" cy="228600"/>
          </a:xfrm>
          <a:prstGeom prst="rect">
            <a:avLst/>
          </a:prstGeom>
          <a:noFill/>
        </p:spPr>
        <p:txBody>
          <a:bodyPr wrap="square" lIns="0" tIns="0" rIns="0" bIns="0" rtlCol="0" anchor="ctr"/>
          <a:lstStyle/>
          <a:p>
            <a:pPr marL="0" indent="0">
              <a:buNone/>
            </a:pPr>
            <a:r>
              <a:rPr lang="en-US" sz="1000" b="1" kern="0" spc="300" dirty="0">
                <a:solidFill>
                  <a:srgbClr val="7FE0D6"/>
                </a:solidFill>
                <a:latin typeface="Calibri" panose="020F0502020204030204" pitchFamily="34" charset="0"/>
                <a:ea typeface="Calibri" panose="020F0502020204030204" pitchFamily="34" charset="-122"/>
                <a:cs typeface="Calibri" panose="020F0502020204030204" pitchFamily="34" charset="-120"/>
              </a:rPr>
              <a:t>RECOMMENDATIONS</a:t>
            </a:r>
            <a:endParaRPr lang="en-US" sz="1000" dirty="0"/>
          </a:p>
        </p:txBody>
      </p:sp>
      <p:sp>
        <p:nvSpPr>
          <p:cNvPr id="5" name="Text 3"/>
          <p:cNvSpPr txBox="1"/>
          <p:nvPr/>
        </p:nvSpPr>
        <p:spPr>
          <a:xfrm>
            <a:off x="457200" y="365760"/>
            <a:ext cx="7315200" cy="59436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What the hospital should do next</a:t>
            </a:r>
            <a:endParaRPr lang="en-US" sz="2200" dirty="0"/>
          </a:p>
        </p:txBody>
      </p:sp>
      <p:sp>
        <p:nvSpPr>
          <p:cNvPr id="6" name="Shape 4"/>
          <p:cNvSpPr/>
          <p:nvPr/>
        </p:nvSpPr>
        <p:spPr>
          <a:xfrm>
            <a:off x="8092440" y="164592"/>
            <a:ext cx="731520" cy="731520"/>
          </a:xfrm>
          <a:prstGeom prst="ellipse">
            <a:avLst/>
          </a:prstGeom>
          <a:solidFill>
            <a:srgbClr val="13A89E"/>
          </a:solidFill>
          <a:ln w="12700">
            <a:solidFill>
              <a:srgbClr val="13A89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75320" y="347472"/>
            <a:ext cx="365760" cy="365760"/>
          </a:xfrm>
          <a:prstGeom prst="rect">
            <a:avLst/>
          </a:prstGeom>
        </p:spPr>
      </p:pic>
      <p:sp>
        <p:nvSpPr>
          <p:cNvPr id="9" name="Text 6"/>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solidFill>
                  <a:srgbClr val="8A97A5"/>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
        <p:nvSpPr>
          <p:cNvPr id="11" name="Shape 7"/>
          <p:cNvSpPr/>
          <p:nvPr/>
        </p:nvSpPr>
        <p:spPr>
          <a:xfrm>
            <a:off x="457200" y="1325880"/>
            <a:ext cx="2651760" cy="1600200"/>
          </a:xfrm>
          <a:prstGeom prst="rect">
            <a:avLst/>
          </a:prstGeom>
          <a:solidFill>
            <a:srgbClr val="F2F6F9"/>
          </a:solidFill>
          <a:ln w="12700">
            <a:solidFill>
              <a:srgbClr val="F2F6F9"/>
            </a:solidFill>
            <a:prstDash val="solid"/>
          </a:ln>
        </p:spPr>
        <p:txBody>
          <a:bodyPr/>
          <a:lstStyle/>
          <a:p>
            <a:endParaRPr lang="en-US"/>
          </a:p>
        </p:txBody>
      </p:sp>
      <p:sp>
        <p:nvSpPr>
          <p:cNvPr id="12" name="Shape 8"/>
          <p:cNvSpPr/>
          <p:nvPr/>
        </p:nvSpPr>
        <p:spPr>
          <a:xfrm>
            <a:off x="457200" y="1325880"/>
            <a:ext cx="2651760" cy="54864"/>
          </a:xfrm>
          <a:prstGeom prst="rect">
            <a:avLst/>
          </a:prstGeom>
          <a:solidFill>
            <a:srgbClr val="13A89E"/>
          </a:solidFill>
          <a:ln w="12700">
            <a:solidFill>
              <a:srgbClr val="13A89E"/>
            </a:solidFill>
            <a:prstDash val="solid"/>
          </a:ln>
        </p:spPr>
        <p:txBody>
          <a:bodyPr/>
          <a:lstStyle/>
          <a:p>
            <a:endParaRPr lang="en-US"/>
          </a:p>
        </p:txBody>
      </p:sp>
      <p:sp>
        <p:nvSpPr>
          <p:cNvPr id="13" name="Shape 9"/>
          <p:cNvSpPr/>
          <p:nvPr/>
        </p:nvSpPr>
        <p:spPr>
          <a:xfrm>
            <a:off x="594360" y="1508760"/>
            <a:ext cx="457200" cy="457200"/>
          </a:xfrm>
          <a:prstGeom prst="ellipse">
            <a:avLst/>
          </a:prstGeom>
          <a:solidFill>
            <a:srgbClr val="13A89E"/>
          </a:solidFill>
          <a:ln w="12700">
            <a:solidFill>
              <a:srgbClr val="13A89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708660" y="1623060"/>
            <a:ext cx="228600" cy="228600"/>
          </a:xfrm>
          <a:prstGeom prst="rect">
            <a:avLst/>
          </a:prstGeom>
        </p:spPr>
      </p:pic>
      <p:sp>
        <p:nvSpPr>
          <p:cNvPr id="15" name="Text 10"/>
          <p:cNvSpPr txBox="1"/>
          <p:nvPr/>
        </p:nvSpPr>
        <p:spPr>
          <a:xfrm>
            <a:off x="1143000" y="1579626"/>
            <a:ext cx="1828800" cy="1108710"/>
          </a:xfrm>
          <a:prstGeom prst="rect">
            <a:avLst/>
          </a:prstGeom>
          <a:noFill/>
        </p:spPr>
        <p:txBody>
          <a:bodyPr wrap="square" lIns="0" tIns="0" rIns="0" bIns="0" rtlCol="0" anchor="t"/>
          <a:lstStyle/>
          <a:p>
            <a:pPr marL="0" indent="0">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1. Plan beds on a flat 7.6-day stay</a:t>
            </a:r>
            <a:endParaRPr lang="en-US" sz="1300" dirty="0"/>
          </a:p>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No department-specific buffers are justified yet; revisit with more data.</a:t>
            </a:r>
            <a:endParaRPr lang="en-US" sz="1300" dirty="0"/>
          </a:p>
        </p:txBody>
      </p:sp>
      <p:sp>
        <p:nvSpPr>
          <p:cNvPr id="16" name="Shape 11"/>
          <p:cNvSpPr/>
          <p:nvPr/>
        </p:nvSpPr>
        <p:spPr>
          <a:xfrm>
            <a:off x="3246120" y="1325880"/>
            <a:ext cx="2651760" cy="1600200"/>
          </a:xfrm>
          <a:prstGeom prst="rect">
            <a:avLst/>
          </a:prstGeom>
          <a:solidFill>
            <a:srgbClr val="F2F6F9"/>
          </a:solidFill>
          <a:ln w="12700">
            <a:solidFill>
              <a:srgbClr val="F2F6F9"/>
            </a:solidFill>
            <a:prstDash val="solid"/>
          </a:ln>
        </p:spPr>
        <p:txBody>
          <a:bodyPr/>
          <a:lstStyle/>
          <a:p>
            <a:endParaRPr lang="en-US"/>
          </a:p>
        </p:txBody>
      </p:sp>
      <p:sp>
        <p:nvSpPr>
          <p:cNvPr id="17" name="Shape 12"/>
          <p:cNvSpPr/>
          <p:nvPr/>
        </p:nvSpPr>
        <p:spPr>
          <a:xfrm>
            <a:off x="3246120" y="1325880"/>
            <a:ext cx="2651760" cy="54864"/>
          </a:xfrm>
          <a:prstGeom prst="rect">
            <a:avLst/>
          </a:prstGeom>
          <a:solidFill>
            <a:srgbClr val="0B2545"/>
          </a:solidFill>
          <a:ln w="12700">
            <a:solidFill>
              <a:srgbClr val="0B2545"/>
            </a:solidFill>
            <a:prstDash val="solid"/>
          </a:ln>
        </p:spPr>
        <p:txBody>
          <a:bodyPr/>
          <a:lstStyle/>
          <a:p>
            <a:endParaRPr lang="en-US"/>
          </a:p>
        </p:txBody>
      </p:sp>
      <p:sp>
        <p:nvSpPr>
          <p:cNvPr id="18" name="Shape 13"/>
          <p:cNvSpPr/>
          <p:nvPr/>
        </p:nvSpPr>
        <p:spPr>
          <a:xfrm>
            <a:off x="3383280" y="1508760"/>
            <a:ext cx="457200" cy="457200"/>
          </a:xfrm>
          <a:prstGeom prst="ellipse">
            <a:avLst/>
          </a:prstGeom>
          <a:solidFill>
            <a:srgbClr val="0B2545"/>
          </a:solidFill>
          <a:ln w="12700">
            <a:solidFill>
              <a:srgbClr val="0B2545"/>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3497580" y="1623060"/>
            <a:ext cx="228600" cy="228600"/>
          </a:xfrm>
          <a:prstGeom prst="rect">
            <a:avLst/>
          </a:prstGeom>
        </p:spPr>
      </p:pic>
      <p:sp>
        <p:nvSpPr>
          <p:cNvPr id="20" name="Text 14"/>
          <p:cNvSpPr txBox="1"/>
          <p:nvPr/>
        </p:nvSpPr>
        <p:spPr>
          <a:xfrm>
            <a:off x="3931920" y="1544997"/>
            <a:ext cx="1828800" cy="1170432"/>
          </a:xfrm>
          <a:prstGeom prst="rect">
            <a:avLst/>
          </a:prstGeom>
          <a:noFill/>
        </p:spPr>
        <p:txBody>
          <a:bodyPr wrap="square" lIns="0" tIns="0" rIns="0" bIns="0" rtlCol="0" anchor="t"/>
          <a:lstStyle/>
          <a:p>
            <a:pPr marL="0" indent="0">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2. Prepare referral pathways for older patients</a:t>
            </a:r>
            <a:endParaRPr lang="en-US" sz="1300" dirty="0"/>
          </a:p>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56+ patients account for 326 of 393 referrals; plan transfer capacity.</a:t>
            </a:r>
            <a:endParaRPr lang="en-US" sz="1300" dirty="0"/>
          </a:p>
        </p:txBody>
      </p:sp>
      <p:sp>
        <p:nvSpPr>
          <p:cNvPr id="21" name="Shape 15"/>
          <p:cNvSpPr/>
          <p:nvPr/>
        </p:nvSpPr>
        <p:spPr>
          <a:xfrm>
            <a:off x="6035040" y="1325880"/>
            <a:ext cx="2651760" cy="1600200"/>
          </a:xfrm>
          <a:prstGeom prst="rect">
            <a:avLst/>
          </a:prstGeom>
          <a:solidFill>
            <a:srgbClr val="F2F6F9"/>
          </a:solidFill>
          <a:ln w="12700">
            <a:solidFill>
              <a:srgbClr val="F2F6F9"/>
            </a:solidFill>
            <a:prstDash val="solid"/>
          </a:ln>
        </p:spPr>
        <p:txBody>
          <a:bodyPr/>
          <a:lstStyle/>
          <a:p>
            <a:endParaRPr lang="en-US"/>
          </a:p>
        </p:txBody>
      </p:sp>
      <p:sp>
        <p:nvSpPr>
          <p:cNvPr id="22" name="Shape 16"/>
          <p:cNvSpPr/>
          <p:nvPr/>
        </p:nvSpPr>
        <p:spPr>
          <a:xfrm>
            <a:off x="6035040" y="1325880"/>
            <a:ext cx="2651760" cy="54864"/>
          </a:xfrm>
          <a:prstGeom prst="rect">
            <a:avLst/>
          </a:prstGeom>
          <a:solidFill>
            <a:srgbClr val="E4572E"/>
          </a:solidFill>
          <a:ln w="12700">
            <a:solidFill>
              <a:srgbClr val="E4572E"/>
            </a:solidFill>
            <a:prstDash val="solid"/>
          </a:ln>
        </p:spPr>
        <p:txBody>
          <a:bodyPr/>
          <a:lstStyle/>
          <a:p>
            <a:endParaRPr lang="en-US"/>
          </a:p>
        </p:txBody>
      </p:sp>
      <p:sp>
        <p:nvSpPr>
          <p:cNvPr id="23" name="Shape 17"/>
          <p:cNvSpPr/>
          <p:nvPr/>
        </p:nvSpPr>
        <p:spPr>
          <a:xfrm>
            <a:off x="6172200" y="1508760"/>
            <a:ext cx="457200" cy="457200"/>
          </a:xfrm>
          <a:prstGeom prst="ellipse">
            <a:avLst/>
          </a:prstGeom>
          <a:solidFill>
            <a:srgbClr val="E4572E"/>
          </a:solidFill>
          <a:ln w="12700">
            <a:solidFill>
              <a:srgbClr val="E4572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286500" y="1623060"/>
            <a:ext cx="228600" cy="228600"/>
          </a:xfrm>
          <a:prstGeom prst="rect">
            <a:avLst/>
          </a:prstGeom>
        </p:spPr>
      </p:pic>
      <p:sp>
        <p:nvSpPr>
          <p:cNvPr id="25" name="Text 18"/>
          <p:cNvSpPr txBox="1"/>
          <p:nvPr/>
        </p:nvSpPr>
        <p:spPr>
          <a:xfrm>
            <a:off x="6720840" y="1554480"/>
            <a:ext cx="1828800" cy="1371600"/>
          </a:xfrm>
          <a:prstGeom prst="rect">
            <a:avLst/>
          </a:prstGeom>
          <a:noFill/>
        </p:spPr>
        <p:txBody>
          <a:bodyPr wrap="square" lIns="0" tIns="0" rIns="0" bIns="0" rtlCol="0" anchor="t"/>
          <a:lstStyle/>
          <a:p>
            <a:pPr marL="0" indent="0">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3. Audit Neurology and ICU</a:t>
            </a:r>
            <a:endParaRPr lang="en-US" sz="1300" dirty="0"/>
          </a:p>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Readmission near 29% and above-average billing: review discharge and care processes.</a:t>
            </a:r>
            <a:endParaRPr lang="en-US" sz="1300" dirty="0"/>
          </a:p>
        </p:txBody>
      </p:sp>
      <p:sp>
        <p:nvSpPr>
          <p:cNvPr id="26" name="Shape 19"/>
          <p:cNvSpPr/>
          <p:nvPr/>
        </p:nvSpPr>
        <p:spPr>
          <a:xfrm>
            <a:off x="457200" y="3108960"/>
            <a:ext cx="4023360" cy="1600200"/>
          </a:xfrm>
          <a:prstGeom prst="rect">
            <a:avLst/>
          </a:prstGeom>
          <a:solidFill>
            <a:srgbClr val="F2F6F9"/>
          </a:solidFill>
          <a:ln w="12700">
            <a:solidFill>
              <a:srgbClr val="F2F6F9"/>
            </a:solidFill>
            <a:prstDash val="solid"/>
          </a:ln>
        </p:spPr>
        <p:txBody>
          <a:bodyPr/>
          <a:lstStyle/>
          <a:p>
            <a:endParaRPr lang="en-US"/>
          </a:p>
        </p:txBody>
      </p:sp>
      <p:sp>
        <p:nvSpPr>
          <p:cNvPr id="27" name="Shape 20"/>
          <p:cNvSpPr/>
          <p:nvPr/>
        </p:nvSpPr>
        <p:spPr>
          <a:xfrm>
            <a:off x="457200" y="3108960"/>
            <a:ext cx="4023360" cy="54864"/>
          </a:xfrm>
          <a:prstGeom prst="rect">
            <a:avLst/>
          </a:prstGeom>
          <a:solidFill>
            <a:srgbClr val="0B2545"/>
          </a:solidFill>
          <a:ln w="12700">
            <a:solidFill>
              <a:srgbClr val="0B2545"/>
            </a:solidFill>
            <a:prstDash val="solid"/>
          </a:ln>
        </p:spPr>
        <p:txBody>
          <a:bodyPr/>
          <a:lstStyle/>
          <a:p>
            <a:endParaRPr lang="en-US"/>
          </a:p>
        </p:txBody>
      </p:sp>
      <p:sp>
        <p:nvSpPr>
          <p:cNvPr id="28" name="Shape 21"/>
          <p:cNvSpPr/>
          <p:nvPr/>
        </p:nvSpPr>
        <p:spPr>
          <a:xfrm>
            <a:off x="594360" y="3291840"/>
            <a:ext cx="457200" cy="457200"/>
          </a:xfrm>
          <a:prstGeom prst="ellipse">
            <a:avLst/>
          </a:prstGeom>
          <a:solidFill>
            <a:srgbClr val="0B2545"/>
          </a:solidFill>
          <a:ln w="12700">
            <a:solidFill>
              <a:srgbClr val="0B2545"/>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708660" y="3406140"/>
            <a:ext cx="228600" cy="228600"/>
          </a:xfrm>
          <a:prstGeom prst="rect">
            <a:avLst/>
          </a:prstGeom>
        </p:spPr>
      </p:pic>
      <p:sp>
        <p:nvSpPr>
          <p:cNvPr id="30" name="Text 22"/>
          <p:cNvSpPr txBox="1"/>
          <p:nvPr/>
        </p:nvSpPr>
        <p:spPr>
          <a:xfrm>
            <a:off x="1165860" y="3337560"/>
            <a:ext cx="3200400" cy="1371600"/>
          </a:xfrm>
          <a:prstGeom prst="rect">
            <a:avLst/>
          </a:prstGeom>
          <a:noFill/>
        </p:spPr>
        <p:txBody>
          <a:bodyPr wrap="square" lIns="0" tIns="0" rIns="0" bIns="0" rtlCol="0" anchor="t"/>
          <a:lstStyle/>
          <a:p>
            <a:pPr marL="0" indent="0">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4. Fix date capture at source</a:t>
            </a:r>
            <a:endParaRPr lang="en-US" sz="1300" dirty="0"/>
          </a:p>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28% of records had invalid dates; add entry validation.</a:t>
            </a:r>
            <a:endParaRPr lang="en-US" sz="1300" dirty="0"/>
          </a:p>
        </p:txBody>
      </p:sp>
      <p:sp>
        <p:nvSpPr>
          <p:cNvPr id="31" name="Shape 23"/>
          <p:cNvSpPr/>
          <p:nvPr/>
        </p:nvSpPr>
        <p:spPr>
          <a:xfrm>
            <a:off x="4663440" y="3108960"/>
            <a:ext cx="4023360" cy="1600200"/>
          </a:xfrm>
          <a:prstGeom prst="rect">
            <a:avLst/>
          </a:prstGeom>
          <a:solidFill>
            <a:srgbClr val="F2F6F9"/>
          </a:solidFill>
          <a:ln w="12700">
            <a:solidFill>
              <a:srgbClr val="F2F6F9"/>
            </a:solidFill>
            <a:prstDash val="solid"/>
          </a:ln>
        </p:spPr>
        <p:txBody>
          <a:bodyPr/>
          <a:lstStyle/>
          <a:p>
            <a:endParaRPr lang="en-US"/>
          </a:p>
        </p:txBody>
      </p:sp>
      <p:sp>
        <p:nvSpPr>
          <p:cNvPr id="32" name="Shape 24"/>
          <p:cNvSpPr/>
          <p:nvPr/>
        </p:nvSpPr>
        <p:spPr>
          <a:xfrm>
            <a:off x="4663440" y="3108960"/>
            <a:ext cx="4023360" cy="54864"/>
          </a:xfrm>
          <a:prstGeom prst="rect">
            <a:avLst/>
          </a:prstGeom>
          <a:solidFill>
            <a:srgbClr val="13A89E"/>
          </a:solidFill>
          <a:ln w="12700">
            <a:solidFill>
              <a:srgbClr val="13A89E"/>
            </a:solidFill>
            <a:prstDash val="solid"/>
          </a:ln>
        </p:spPr>
        <p:txBody>
          <a:bodyPr/>
          <a:lstStyle/>
          <a:p>
            <a:endParaRPr lang="en-US"/>
          </a:p>
        </p:txBody>
      </p:sp>
      <p:sp>
        <p:nvSpPr>
          <p:cNvPr id="33" name="Shape 25"/>
          <p:cNvSpPr/>
          <p:nvPr/>
        </p:nvSpPr>
        <p:spPr>
          <a:xfrm>
            <a:off x="4800600" y="3291840"/>
            <a:ext cx="457200" cy="457200"/>
          </a:xfrm>
          <a:prstGeom prst="ellipse">
            <a:avLst/>
          </a:prstGeom>
          <a:solidFill>
            <a:srgbClr val="13A89E"/>
          </a:solidFill>
          <a:ln w="12700">
            <a:solidFill>
              <a:srgbClr val="13A89E"/>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4914900" y="3406140"/>
            <a:ext cx="228600" cy="228600"/>
          </a:xfrm>
          <a:prstGeom prst="rect">
            <a:avLst/>
          </a:prstGeom>
        </p:spPr>
      </p:pic>
      <p:sp>
        <p:nvSpPr>
          <p:cNvPr id="35" name="Text 26"/>
          <p:cNvSpPr txBox="1"/>
          <p:nvPr/>
        </p:nvSpPr>
        <p:spPr>
          <a:xfrm>
            <a:off x="5372100" y="3337560"/>
            <a:ext cx="3200400" cy="1371600"/>
          </a:xfrm>
          <a:prstGeom prst="rect">
            <a:avLst/>
          </a:prstGeom>
          <a:noFill/>
        </p:spPr>
        <p:txBody>
          <a:bodyPr wrap="square" lIns="0" tIns="0" rIns="0" bIns="0" rtlCol="0" anchor="t"/>
          <a:lstStyle/>
          <a:p>
            <a:pPr marL="0" indent="0">
              <a:buNone/>
            </a:pPr>
            <a:r>
              <a:rPr lang="en-US" sz="1300" b="1" dirty="0">
                <a:solidFill>
                  <a:srgbClr val="0B2545"/>
                </a:solidFill>
                <a:latin typeface="Calibri" panose="020F0502020204030204" pitchFamily="34" charset="0"/>
                <a:ea typeface="Calibri" panose="020F0502020204030204" pitchFamily="34" charset="-122"/>
                <a:cs typeface="Calibri" panose="020F0502020204030204" pitchFamily="34" charset="-120"/>
              </a:rPr>
              <a:t>5. Extend the data window</a:t>
            </a:r>
            <a:endParaRPr lang="en-US" sz="1300" dirty="0"/>
          </a:p>
          <a:p>
            <a:pPr marL="0" indent="0">
              <a:buNone/>
            </a:pPr>
            <a:r>
              <a:rPr lang="en-US" sz="1050" dirty="0">
                <a:solidFill>
                  <a:srgbClr val="3A4A5A"/>
                </a:solidFill>
                <a:latin typeface="Calibri" panose="020F0502020204030204" pitchFamily="34" charset="0"/>
                <a:ea typeface="Calibri" panose="020F0502020204030204" pitchFamily="34" charset="-122"/>
                <a:cs typeface="Calibri" panose="020F0502020204030204" pitchFamily="34" charset="-120"/>
              </a:rPr>
              <a:t>Add 12+ months to confirm seasonality and validate the age-outcome pattern.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5" name="Text 3"/>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solidFill>
                  <a:srgbClr val="8FA6BC"/>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
        <p:nvSpPr>
          <p:cNvPr id="7" name="Text 4"/>
          <p:cNvSpPr txBox="1"/>
          <p:nvPr/>
        </p:nvSpPr>
        <p:spPr>
          <a:xfrm>
            <a:off x="731520" y="457200"/>
            <a:ext cx="5486400" cy="274320"/>
          </a:xfrm>
          <a:prstGeom prst="rect">
            <a:avLst/>
          </a:prstGeom>
          <a:noFill/>
        </p:spPr>
        <p:txBody>
          <a:bodyPr wrap="square" lIns="0" tIns="0" rIns="0" bIns="0" rtlCol="0" anchor="ctr"/>
          <a:lstStyle/>
          <a:p>
            <a:pPr marL="0" indent="0">
              <a:buNone/>
            </a:pPr>
            <a:r>
              <a:rPr lang="en-US" sz="1200" b="1" kern="0" spc="400" dirty="0">
                <a:solidFill>
                  <a:srgbClr val="7FE0D6"/>
                </a:solidFill>
                <a:latin typeface="Calibri" panose="020F0502020204030204" pitchFamily="34" charset="0"/>
                <a:ea typeface="Calibri" panose="020F0502020204030204" pitchFamily="34" charset="-122"/>
                <a:cs typeface="Calibri" panose="020F0502020204030204" pitchFamily="34" charset="-120"/>
              </a:rPr>
              <a:t>CONCLUSION</a:t>
            </a:r>
            <a:endParaRPr lang="en-US" sz="1200" dirty="0"/>
          </a:p>
        </p:txBody>
      </p:sp>
      <p:sp>
        <p:nvSpPr>
          <p:cNvPr id="8" name="Text 5"/>
          <p:cNvSpPr txBox="1"/>
          <p:nvPr/>
        </p:nvSpPr>
        <p:spPr>
          <a:xfrm>
            <a:off x="731520" y="777240"/>
            <a:ext cx="7315200" cy="822960"/>
          </a:xfrm>
          <a:prstGeom prst="rect">
            <a:avLst/>
          </a:prstGeom>
          <a:noFill/>
        </p:spPr>
        <p:txBody>
          <a:bodyPr wrap="square" lIns="0" tIns="0" rIns="0" bIns="0" rtlCol="0" anchor="t"/>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From messy records to a decision-ready dashboard</a:t>
            </a:r>
            <a:endParaRPr lang="en-US" sz="2800" dirty="0"/>
          </a:p>
        </p:txBody>
      </p:sp>
      <p:sp>
        <p:nvSpPr>
          <p:cNvPr id="9" name="Shape 6"/>
          <p:cNvSpPr/>
          <p:nvPr/>
        </p:nvSpPr>
        <p:spPr>
          <a:xfrm>
            <a:off x="731520" y="1920240"/>
            <a:ext cx="2468880" cy="2377440"/>
          </a:xfrm>
          <a:prstGeom prst="rect">
            <a:avLst/>
          </a:prstGeom>
          <a:solidFill>
            <a:srgbClr val="13315C"/>
          </a:solidFill>
          <a:ln w="12700">
            <a:solidFill>
              <a:srgbClr val="13315C"/>
            </a:solidFill>
            <a:prstDash val="solid"/>
          </a:ln>
        </p:spPr>
        <p:txBody>
          <a:bodyPr/>
          <a:lstStyle/>
          <a:p>
            <a:endParaRPr lang="en-US"/>
          </a:p>
        </p:txBody>
      </p:sp>
      <p:sp>
        <p:nvSpPr>
          <p:cNvPr id="10" name="Shape 7"/>
          <p:cNvSpPr/>
          <p:nvPr/>
        </p:nvSpPr>
        <p:spPr>
          <a:xfrm>
            <a:off x="1600200" y="2103120"/>
            <a:ext cx="731520" cy="731520"/>
          </a:xfrm>
          <a:prstGeom prst="ellipse">
            <a:avLst/>
          </a:prstGeom>
          <a:solidFill>
            <a:srgbClr val="13A89E"/>
          </a:solidFill>
          <a:ln w="12700">
            <a:solidFill>
              <a:srgbClr val="13A89E"/>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783080" y="2286000"/>
            <a:ext cx="365760" cy="365760"/>
          </a:xfrm>
          <a:prstGeom prst="rect">
            <a:avLst/>
          </a:prstGeom>
        </p:spPr>
      </p:pic>
      <p:sp>
        <p:nvSpPr>
          <p:cNvPr id="12" name="Text 8"/>
          <p:cNvSpPr txBox="1"/>
          <p:nvPr/>
        </p:nvSpPr>
        <p:spPr>
          <a:xfrm>
            <a:off x="868680" y="2971800"/>
            <a:ext cx="2194560" cy="1280160"/>
          </a:xfrm>
          <a:prstGeom prst="rect">
            <a:avLst/>
          </a:prstGeom>
          <a:noFill/>
        </p:spPr>
        <p:txBody>
          <a:bodyPr wrap="square" lIns="0" tIns="0" rIns="0" bIns="0" rtlCol="0" anchor="t"/>
          <a:lstStyle/>
          <a:p>
            <a:pPr marL="0" indent="0" algn="ctr">
              <a:buNone/>
            </a:pPr>
            <a:r>
              <a:rPr lang="en-US" sz="1400" b="1" dirty="0">
                <a:solidFill>
                  <a:srgbClr val="7FE0D6"/>
                </a:solidFill>
                <a:latin typeface="Calibri" panose="020F0502020204030204" pitchFamily="34" charset="0"/>
                <a:ea typeface="Calibri" panose="020F0502020204030204" pitchFamily="34" charset="-122"/>
                <a:cs typeface="Calibri" panose="020F0502020204030204" pitchFamily="34" charset="-120"/>
              </a:rPr>
              <a:t>Cleaned and documented</a:t>
            </a:r>
            <a:endParaRPr lang="en-US" sz="14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Names, billing and dates standardized; 273 invalid date pairs flagged</a:t>
            </a:r>
            <a:endParaRPr lang="en-US" sz="1400" dirty="0"/>
          </a:p>
        </p:txBody>
      </p:sp>
      <p:sp>
        <p:nvSpPr>
          <p:cNvPr id="13" name="Shape 9"/>
          <p:cNvSpPr/>
          <p:nvPr/>
        </p:nvSpPr>
        <p:spPr>
          <a:xfrm>
            <a:off x="3383280" y="1920240"/>
            <a:ext cx="2468880" cy="2377440"/>
          </a:xfrm>
          <a:prstGeom prst="rect">
            <a:avLst/>
          </a:prstGeom>
          <a:solidFill>
            <a:srgbClr val="13315C"/>
          </a:solidFill>
          <a:ln w="12700">
            <a:solidFill>
              <a:srgbClr val="13315C"/>
            </a:solidFill>
            <a:prstDash val="solid"/>
          </a:ln>
        </p:spPr>
        <p:txBody>
          <a:bodyPr/>
          <a:lstStyle/>
          <a:p>
            <a:endParaRPr lang="en-US"/>
          </a:p>
        </p:txBody>
      </p:sp>
      <p:sp>
        <p:nvSpPr>
          <p:cNvPr id="14" name="Shape 10"/>
          <p:cNvSpPr/>
          <p:nvPr/>
        </p:nvSpPr>
        <p:spPr>
          <a:xfrm>
            <a:off x="4251960" y="2103120"/>
            <a:ext cx="731520" cy="731520"/>
          </a:xfrm>
          <a:prstGeom prst="ellipse">
            <a:avLst/>
          </a:prstGeom>
          <a:solidFill>
            <a:srgbClr val="13A89E"/>
          </a:solidFill>
          <a:ln w="12700">
            <a:solidFill>
              <a:srgbClr val="13A89E"/>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434840" y="2286000"/>
            <a:ext cx="365760" cy="365760"/>
          </a:xfrm>
          <a:prstGeom prst="rect">
            <a:avLst/>
          </a:prstGeom>
        </p:spPr>
      </p:pic>
      <p:sp>
        <p:nvSpPr>
          <p:cNvPr id="16" name="Text 11"/>
          <p:cNvSpPr txBox="1"/>
          <p:nvPr/>
        </p:nvSpPr>
        <p:spPr>
          <a:xfrm>
            <a:off x="3520440" y="2971800"/>
            <a:ext cx="2194560" cy="1280160"/>
          </a:xfrm>
          <a:prstGeom prst="rect">
            <a:avLst/>
          </a:prstGeom>
          <a:noFill/>
        </p:spPr>
        <p:txBody>
          <a:bodyPr wrap="square" lIns="0" tIns="0" rIns="0" bIns="0" rtlCol="0" anchor="t"/>
          <a:lstStyle/>
          <a:p>
            <a:pPr marL="0" indent="0" algn="ctr">
              <a:buNone/>
            </a:pPr>
            <a:r>
              <a:rPr lang="en-US" sz="1400" b="1" dirty="0">
                <a:solidFill>
                  <a:srgbClr val="7FE0D6"/>
                </a:solidFill>
                <a:latin typeface="Calibri" panose="020F0502020204030204" pitchFamily="34" charset="0"/>
                <a:ea typeface="Calibri" panose="020F0502020204030204" pitchFamily="34" charset="-122"/>
                <a:cs typeface="Calibri" panose="020F0502020204030204" pitchFamily="34" charset="-120"/>
              </a:rPr>
              <a:t>Dashboard delivered</a:t>
            </a:r>
            <a:endParaRPr lang="en-US" sz="14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KPIs, trend, length of stay, billing, outcomes and readmission, built in Power BI with DAX.</a:t>
            </a:r>
            <a:endParaRPr lang="en-US" sz="1400" dirty="0"/>
          </a:p>
        </p:txBody>
      </p:sp>
      <p:sp>
        <p:nvSpPr>
          <p:cNvPr id="17" name="Shape 12"/>
          <p:cNvSpPr/>
          <p:nvPr/>
        </p:nvSpPr>
        <p:spPr>
          <a:xfrm>
            <a:off x="6035040" y="1920240"/>
            <a:ext cx="2468880" cy="2377440"/>
          </a:xfrm>
          <a:prstGeom prst="rect">
            <a:avLst/>
          </a:prstGeom>
          <a:solidFill>
            <a:srgbClr val="13315C"/>
          </a:solidFill>
          <a:ln w="12700">
            <a:solidFill>
              <a:srgbClr val="13315C"/>
            </a:solidFill>
            <a:prstDash val="solid"/>
          </a:ln>
        </p:spPr>
        <p:txBody>
          <a:bodyPr/>
          <a:lstStyle/>
          <a:p>
            <a:endParaRPr lang="en-US"/>
          </a:p>
        </p:txBody>
      </p:sp>
      <p:sp>
        <p:nvSpPr>
          <p:cNvPr id="18" name="Shape 13"/>
          <p:cNvSpPr/>
          <p:nvPr/>
        </p:nvSpPr>
        <p:spPr>
          <a:xfrm>
            <a:off x="6903720" y="2103120"/>
            <a:ext cx="731520" cy="731520"/>
          </a:xfrm>
          <a:prstGeom prst="ellipse">
            <a:avLst/>
          </a:prstGeom>
          <a:solidFill>
            <a:srgbClr val="13A89E"/>
          </a:solidFill>
          <a:ln w="12700">
            <a:solidFill>
              <a:srgbClr val="13A89E"/>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7086600" y="2286000"/>
            <a:ext cx="365760" cy="365760"/>
          </a:xfrm>
          <a:prstGeom prst="rect">
            <a:avLst/>
          </a:prstGeom>
        </p:spPr>
      </p:pic>
      <p:sp>
        <p:nvSpPr>
          <p:cNvPr id="20" name="Text 14"/>
          <p:cNvSpPr txBox="1"/>
          <p:nvPr/>
        </p:nvSpPr>
        <p:spPr>
          <a:xfrm>
            <a:off x="6172200" y="2971800"/>
            <a:ext cx="2194560" cy="1280160"/>
          </a:xfrm>
          <a:prstGeom prst="rect">
            <a:avLst/>
          </a:prstGeom>
          <a:noFill/>
        </p:spPr>
        <p:txBody>
          <a:bodyPr wrap="square" lIns="0" tIns="0" rIns="0" bIns="0" rtlCol="0" anchor="t"/>
          <a:lstStyle/>
          <a:p>
            <a:pPr marL="0" indent="0" algn="ctr">
              <a:buNone/>
            </a:pPr>
            <a:r>
              <a:rPr lang="en-US" sz="1400" b="1" dirty="0">
                <a:solidFill>
                  <a:srgbClr val="7FE0D6"/>
                </a:solidFill>
                <a:latin typeface="Calibri" panose="020F0502020204030204" pitchFamily="34" charset="0"/>
                <a:ea typeface="Calibri" panose="020F0502020204030204" pitchFamily="34" charset="-122"/>
                <a:cs typeface="Calibri" panose="020F0502020204030204" pitchFamily="34" charset="-120"/>
              </a:rPr>
              <a:t>Findings are indicative</a:t>
            </a:r>
            <a:endParaRPr lang="en-US" sz="1400" dirty="0"/>
          </a:p>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Under 12 months of data and a very clean age-outcome split call for validation.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5" name="Text 3"/>
          <p:cNvSpPr txBox="1"/>
          <p:nvPr/>
        </p:nvSpPr>
        <p:spPr>
          <a:xfrm>
            <a:off x="8138160" y="4828032"/>
            <a:ext cx="548640" cy="201168"/>
          </a:xfrm>
          <a:prstGeom prst="rect">
            <a:avLst/>
          </a:prstGeom>
          <a:noFill/>
        </p:spPr>
        <p:txBody>
          <a:bodyPr wrap="square" lIns="0" tIns="0" rIns="0" bIns="0" rtlCol="0" anchor="ctr"/>
          <a:lstStyle/>
          <a:p>
            <a:pPr marL="0" indent="0" algn="r">
              <a:buNone/>
            </a:pPr>
            <a:r>
              <a:rPr lang="en-US" sz="900" dirty="0">
                <a:solidFill>
                  <a:srgbClr val="8FA6BC"/>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
        <p:nvSpPr>
          <p:cNvPr id="7" name="Shape 4"/>
          <p:cNvSpPr/>
          <p:nvPr/>
        </p:nvSpPr>
        <p:spPr>
          <a:xfrm>
            <a:off x="3931920" y="1005840"/>
            <a:ext cx="1280160" cy="1280160"/>
          </a:xfrm>
          <a:prstGeom prst="ellipse">
            <a:avLst/>
          </a:prstGeom>
          <a:solidFill>
            <a:srgbClr val="13A89E"/>
          </a:solidFill>
          <a:ln w="12700">
            <a:solidFill>
              <a:srgbClr val="13A89E"/>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4251960" y="1325880"/>
            <a:ext cx="640080" cy="640080"/>
          </a:xfrm>
          <a:prstGeom prst="rect">
            <a:avLst/>
          </a:prstGeom>
        </p:spPr>
      </p:pic>
      <p:sp>
        <p:nvSpPr>
          <p:cNvPr id="9" name="Text 5"/>
          <p:cNvSpPr txBox="1"/>
          <p:nvPr/>
        </p:nvSpPr>
        <p:spPr>
          <a:xfrm>
            <a:off x="914400" y="2468880"/>
            <a:ext cx="7315200" cy="822960"/>
          </a:xfrm>
          <a:prstGeom prst="rect">
            <a:avLst/>
          </a:prstGeom>
          <a:noFill/>
        </p:spPr>
        <p:txBody>
          <a:bodyPr wrap="square" lIns="0" tIns="0" rIns="0" bIns="0" rtlCol="0" anchor="ctr"/>
          <a:lstStyle/>
          <a:p>
            <a:pPr marL="0" indent="0" algn="ctr">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4400" dirty="0"/>
          </a:p>
        </p:txBody>
      </p:sp>
      <p:sp>
        <p:nvSpPr>
          <p:cNvPr id="10" name="Text 6"/>
          <p:cNvSpPr txBox="1"/>
          <p:nvPr/>
        </p:nvSpPr>
        <p:spPr>
          <a:xfrm>
            <a:off x="914400" y="3291840"/>
            <a:ext cx="7315200" cy="365760"/>
          </a:xfrm>
          <a:prstGeom prst="rect">
            <a:avLst/>
          </a:prstGeom>
          <a:noFill/>
        </p:spPr>
        <p:txBody>
          <a:bodyPr wrap="square" lIns="0" tIns="0" rIns="0" bIns="0" rtlCol="0" anchor="ctr"/>
          <a:lstStyle/>
          <a:p>
            <a:pPr marL="0" indent="0" algn="ctr">
              <a:buNone/>
            </a:pPr>
            <a:r>
              <a:rPr lang="en-US" sz="1800" dirty="0">
                <a:solidFill>
                  <a:srgbClr val="7FE0D6"/>
                </a:solidFill>
                <a:latin typeface="Calibri" panose="020F0502020204030204" pitchFamily="34" charset="0"/>
                <a:ea typeface="Calibri" panose="020F0502020204030204" pitchFamily="34" charset="-122"/>
                <a:cs typeface="Calibri" panose="020F0502020204030204" pitchFamily="34" charset="-120"/>
              </a:rPr>
              <a:t>Questions &amp; Discussion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1051</Words>
  <Application>Microsoft Office PowerPoint</Application>
  <PresentationFormat>On-screen Show (16:9)</PresentationFormat>
  <Paragraphs>130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Admissions &amp; Treatment Outcomes: The Patient Flow Story</dc:title>
  <dc:subject>PptxGenJS Presentation</dc:subject>
  <dc:creator>PptxGenJS</dc:creator>
  <cp:lastModifiedBy>faith usenideh</cp:lastModifiedBy>
  <cp:revision>7</cp:revision>
  <dcterms:created xsi:type="dcterms:W3CDTF">2026-10-05T13:32:00Z</dcterms:created>
  <dcterms:modified xsi:type="dcterms:W3CDTF">2026-10-07T15:32:16Z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E84702F7213B4A7EB5F55470C5EAAEC6_12</vt:lpwstr>
  </property>
</Properties>
</file>